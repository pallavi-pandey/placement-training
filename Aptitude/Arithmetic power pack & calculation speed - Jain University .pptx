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Int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36E2E1-6D2E-478E-81A9-23E695C854B5}">
  <a:tblStyle styleId="{3636E2E1-6D2E-478E-81A9-23E695C854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Inter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cfc5ca7b337d3f3_3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cfc5ca7b337d3f3_3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hcfc5ca7b337d3f3_3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cfc5ca7b337d3f3_3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hcfc5ca7b337d3f3_3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hcfc5ca7b337d3f3_3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cfc5ca7b337d3f3_3_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hcfc5ca7b337d3f3_3_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cfc5ca7b337d3f3_3_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cfc5ca7b337d3f3_3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cfc5ca7b337d3f3_3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cfc5ca7b337d3f3_3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cfc5ca7b337d3f3_3_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hcfc5ca7b337d3f3_3_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key: Q6 2 : 1 ((150−130):(130−120)). Q7 9,996 (100² − 2²). Q8 ₹40,000 (48,400 ÷ 1.21). Q9 20% (25/125). Q10 201 (121 + 80). Call time at 10:00 sharp.</a:t>
            </a:r>
            <a:endParaRPr/>
          </a:p>
        </p:txBody>
      </p:sp>
      <p:sp>
        <p:nvSpPr>
          <p:cNvPr id="126" name="Google Shape;126;hcfc5ca7b337d3f3_3_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cfc5ca7b337d3f3_3_12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hcfc5ca7b337d3f3_3_12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hcfc5ca7b337d3f3_3_12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cfc5ca7b337d3f3_3_1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cfc5ca7b337d3f3_3_1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cfc5ca7b337d3f3_3_1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cfc5ca7b337d3f3_3_1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cfc5ca7b337d3f3_3_1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Answers: 62.5% = 5/8. 14.28% of 350 = 50. 83.33% = 5/6. 11.11% of 999 = 111. Then improvise more call-outs: 'What is 3/7?' (42.86%), '16.67% of 1,236?' (206), '7/8?' (87.5%). Keep it fast — 3 minutes max. Score rows on the board.</a:t>
            </a:r>
            <a:endParaRPr/>
          </a:p>
        </p:txBody>
      </p:sp>
      <p:sp>
        <p:nvSpPr>
          <p:cNvPr id="213" name="Google Shape;213;hcfc5ca7b337d3f3_3_1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cfc5ca7b337d3f3_3_2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hcfc5ca7b337d3f3_3_2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hcfc5ca7b337d3f3_3_2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cfc5ca7b337d3f3_3_2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cfc5ca7b337d3f3_3_2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hcfc5ca7b337d3f3_3_2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cfc5ca7b337d3f3_3_2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hcfc5ca7b337d3f3_3_2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hcfc5ca7b337d3f3_3_2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cfc5ca7b337d3f3_3_2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cfc5ca7b337d3f3_3_2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cfc5ca7b337d3f3_3_2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cfc5ca7b337d3f3_3_27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hcfc5ca7b337d3f3_3_27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hcfc5ca7b337d3f3_3_27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cfc5ca7b337d3f3_3_30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hcfc5ca7b337d3f3_3_30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hcfc5ca7b337d3f3_3_30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cfc5ca7b337d3f3_3_32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hcfc5ca7b337d3f3_3_32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Answers: 96 × 104 = 9,984 (100² − 4²). 35² = 1,225 (3 × 4 = 12, append 25). 64 × 25 = 1,600. 12.5% of 968 = 121. 103² = 10,609. 45 × 55 = 2,475 (50² − 5²). Swap volunteers every two cards. The mental solver usually wins — that's the point.</a:t>
            </a:r>
            <a:endParaRPr/>
          </a:p>
        </p:txBody>
      </p:sp>
      <p:sp>
        <p:nvSpPr>
          <p:cNvPr id="356" name="Google Shape;356;hcfc5ca7b337d3f3_3_32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cfc5ca7b337d3f3_3_3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hcfc5ca7b337d3f3_3_3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cfc5ca7b337d3f3_3_3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cfc5ca7b337d3f3_3_3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hcfc5ca7b337d3f3_3_3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Answers: Q1 17% (1.3 × 0.9 = 1.17). Q2 49,500 (50,000 × 1.1 × 0.9). Q3 ₹1,200 (LCM 12 → 6 : 4 : 3; 2,600 × 6/13). Q4 20% (25/125). Ask which shortcut each question used.</a:t>
            </a:r>
            <a:endParaRPr/>
          </a:p>
        </p:txBody>
      </p:sp>
      <p:sp>
        <p:nvSpPr>
          <p:cNvPr id="383" name="Google Shape;383;hcfc5ca7b337d3f3_3_3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cfc5ca7b337d3f3_3_3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hcfc5ca7b337d3f3_3_3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Answers: Q5 ₹100 (₹3,600 vs ₹3,500). Q6 11.11% (100/900). Q7 5 L (milk 15, water 5 → water must be 10). Q8 15 years. Push Sprinters to finish in under 4 minutes.</a:t>
            </a:r>
            <a:endParaRPr/>
          </a:p>
        </p:txBody>
      </p:sp>
      <p:sp>
        <p:nvSpPr>
          <p:cNvPr id="404" name="Google Shape;404;hcfc5ca7b337d3f3_3_3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cfc5ca7b337d3f3_3_3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hcfc5ca7b337d3f3_3_3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hcfc5ca7b337d3f3_3_39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hcfc5ca7b337d3f3_3_4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hcfc5ca7b337d3f3_3_4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cfc5ca7b337d3f3_3_4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cfc5ca7b337d3f3_3_4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hcfc5ca7b337d3f3_3_4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hcfc5ca7b337d3f3_3_4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600" y="885825"/>
            <a:ext cx="7924800" cy="39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  <a:defRPr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600" y="1505322"/>
            <a:ext cx="7924800" cy="3028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0173D"/>
              </a:buClr>
              <a:buSzPts val="1200"/>
              <a:buNone/>
              <a:defRPr sz="12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885825"/>
            <a:ext cx="7924800" cy="39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  <a:defRPr b="0" i="0" sz="29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505322"/>
            <a:ext cx="7924800" cy="3028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0173D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3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7753350" y="171450"/>
            <a:ext cx="933450" cy="43815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ard Infinity" id="63" name="Google Shape;63;p16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839075" y="20955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609600" y="1397756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ADVANCED APTITUDE · SESSION 1 OF 7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609600" y="1782552"/>
            <a:ext cx="7358062" cy="114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1" i="0" lang="en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Arithmetic power pack &amp; calculation speed</a:t>
            </a:r>
            <a:endParaRPr sz="4400"/>
          </a:p>
        </p:txBody>
      </p:sp>
      <p:sp>
        <p:nvSpPr>
          <p:cNvPr id="66" name="Google Shape;66;p16"/>
          <p:cNvSpPr/>
          <p:nvPr/>
        </p:nvSpPr>
        <p:spPr>
          <a:xfrm>
            <a:off x="609600" y="3080928"/>
            <a:ext cx="762000" cy="47625"/>
          </a:xfrm>
          <a:prstGeom prst="roundRect">
            <a:avLst>
              <a:gd fmla="val 50000" name="adj"/>
            </a:avLst>
          </a:prstGeom>
          <a:solidFill>
            <a:srgbClr val="0075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3D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7753350" y="171450"/>
            <a:ext cx="933450" cy="43815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ard Infinity" id="74" name="Google Shape;74;p17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839075" y="20955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609600" y="609600"/>
            <a:ext cx="20928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WHY SPEED MATTERS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09600" y="2124113"/>
            <a:ext cx="7358062" cy="72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a shortlisting test you rarely lose marks on what you don't know. </a:t>
            </a:r>
            <a:r>
              <a:rPr b="1" i="0" lang="en" sz="24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You lose them on time.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609600" y="3015593"/>
            <a:ext cx="8162544" cy="2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1600"/>
              <a:buFont typeface="Inter"/>
              <a:buNone/>
            </a:pPr>
            <a:r>
              <a:rPr b="0" i="0" lang="en" sz="16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Today's target: any arithmetic question in </a:t>
            </a:r>
            <a:r>
              <a:rPr b="1" i="0" lang="en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 seconds or less</a:t>
            </a:r>
            <a:r>
              <a:rPr b="0" i="0" lang="en" sz="16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84" name="Google Shape;84;p18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609600" y="609600"/>
            <a:ext cx="1398166" cy="262867"/>
          </a:xfrm>
          <a:prstGeom prst="roundRect">
            <a:avLst>
              <a:gd fmla="val 50000" name="adj"/>
            </a:avLst>
          </a:prstGeom>
          <a:solidFill>
            <a:srgbClr val="A835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ACTIVITY · 10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2103016" y="641003"/>
            <a:ext cx="2405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DIAGNOSTIC SPEED TEST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>
            <a:off x="609600" y="948668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How fast are you today?</a:t>
            </a:r>
            <a:endParaRPr sz="2900"/>
          </a:p>
        </p:txBody>
      </p:sp>
      <p:sp>
        <p:nvSpPr>
          <p:cNvPr id="88" name="Google Shape;88;p18"/>
          <p:cNvSpPr/>
          <p:nvPr/>
        </p:nvSpPr>
        <p:spPr>
          <a:xfrm>
            <a:off x="614362" y="1572927"/>
            <a:ext cx="2530450" cy="1161008"/>
          </a:xfrm>
          <a:prstGeom prst="roundRect">
            <a:avLst>
              <a:gd fmla="val 697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809625" y="1768190"/>
            <a:ext cx="2204123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10 questions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809625" y="2075818"/>
            <a:ext cx="2204123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Write the final answer only.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3306738" y="1572927"/>
            <a:ext cx="2530487" cy="1161008"/>
          </a:xfrm>
          <a:prstGeom prst="roundRect">
            <a:avLst>
              <a:gd fmla="val 697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3502001" y="1768190"/>
            <a:ext cx="2204162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10 minutes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3502001" y="2075818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 calculator. Rough work allowed.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999150" y="1572927"/>
            <a:ext cx="2530487" cy="1161008"/>
          </a:xfrm>
          <a:prstGeom prst="roundRect">
            <a:avLst>
              <a:gd fmla="val 697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6194413" y="1768190"/>
            <a:ext cx="2204162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60-second rule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194413" y="2075818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Stuck for a minute? Skip and come back.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14363" y="2972060"/>
            <a:ext cx="7915275" cy="647700"/>
          </a:xfrm>
          <a:prstGeom prst="roundRect">
            <a:avLst>
              <a:gd fmla="val 12500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00" lIns="171550" spcFirstLastPara="1" rIns="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Finished early?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Raise your hand. First three names go on the board.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104" name="Google Shape;104;p19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609600" y="609600"/>
            <a:ext cx="28386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DIAGNOSTIC · QUESTIONS 1–5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Solve. Don't overthink.</a:t>
            </a:r>
            <a:endParaRPr sz="2900"/>
          </a:p>
        </p:txBody>
      </p:sp>
      <p:cxnSp>
        <p:nvCxnSpPr>
          <p:cNvPr id="107" name="Google Shape;107;p19"/>
          <p:cNvCxnSpPr/>
          <p:nvPr/>
        </p:nvCxnSpPr>
        <p:spPr>
          <a:xfrm>
            <a:off x="609600" y="19482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9"/>
          <p:cNvSpPr/>
          <p:nvPr/>
        </p:nvSpPr>
        <p:spPr>
          <a:xfrm>
            <a:off x="609600" y="15910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123950" y="15910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37.5% of 480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0" name="Google Shape;110;p19"/>
          <p:cNvCxnSpPr/>
          <p:nvPr/>
        </p:nvCxnSpPr>
        <p:spPr>
          <a:xfrm>
            <a:off x="609600" y="239591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9"/>
          <p:cNvSpPr/>
          <p:nvPr/>
        </p:nvSpPr>
        <p:spPr>
          <a:xfrm>
            <a:off x="609600" y="203872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123950" y="203872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 number rises 25%, then falls 20%. Net change?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3" name="Google Shape;113;p19"/>
          <p:cNvCxnSpPr/>
          <p:nvPr/>
        </p:nvCxnSpPr>
        <p:spPr>
          <a:xfrm>
            <a:off x="609600" y="284358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9"/>
          <p:cNvSpPr/>
          <p:nvPr/>
        </p:nvSpPr>
        <p:spPr>
          <a:xfrm>
            <a:off x="609600" y="248639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123950" y="248639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Marked 50% above cost, sold at 20% discount. Profit %?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>
            <a:off x="609600" y="329126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9"/>
          <p:cNvSpPr/>
          <p:nvPr/>
        </p:nvSpPr>
        <p:spPr>
          <a:xfrm>
            <a:off x="609600" y="293407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123950" y="293407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 : B = 2 : 3 and B : C = 4 : 5. Find A : B : C.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9" name="Google Shape;119;p19"/>
          <p:cNvCxnSpPr/>
          <p:nvPr/>
        </p:nvCxnSpPr>
        <p:spPr>
          <a:xfrm>
            <a:off x="609600" y="37389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9"/>
          <p:cNvSpPr/>
          <p:nvPr/>
        </p:nvSpPr>
        <p:spPr>
          <a:xfrm>
            <a:off x="609600" y="33817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Q5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1123950" y="33817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CI − SI on ₹20,000 at 5% p.a. for 2 years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128" name="Google Shape;128;p20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/>
          <p:nvPr/>
        </p:nvSpPr>
        <p:spPr>
          <a:xfrm>
            <a:off x="609600" y="6096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DIAGNOSTIC · QUESTIONS 6–10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Keep going. Watch the clock.</a:t>
            </a:r>
            <a:endParaRPr sz="2900"/>
          </a:p>
        </p:txBody>
      </p:sp>
      <p:cxnSp>
        <p:nvCxnSpPr>
          <p:cNvPr id="131" name="Google Shape;131;p20"/>
          <p:cNvCxnSpPr/>
          <p:nvPr/>
        </p:nvCxnSpPr>
        <p:spPr>
          <a:xfrm>
            <a:off x="609600" y="19482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0"/>
          <p:cNvSpPr/>
          <p:nvPr/>
        </p:nvSpPr>
        <p:spPr>
          <a:xfrm>
            <a:off x="609600" y="15910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Q6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1123950" y="15910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Tea at ₹120/kg is mixed with tea at ₹150/kg to get ₹130/kg. Ratio?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609600" y="239591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20"/>
          <p:cNvSpPr/>
          <p:nvPr/>
        </p:nvSpPr>
        <p:spPr>
          <a:xfrm>
            <a:off x="609600" y="203872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Q7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1123950" y="203872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98 × 102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609600" y="284358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20"/>
          <p:cNvSpPr/>
          <p:nvPr/>
        </p:nvSpPr>
        <p:spPr>
          <a:xfrm>
            <a:off x="609600" y="248639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Q8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1123950" y="248639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Salary grew 10% a year for 2 years to ₹48,400. Original salary?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" name="Google Shape;140;p20"/>
          <p:cNvCxnSpPr/>
          <p:nvPr/>
        </p:nvCxnSpPr>
        <p:spPr>
          <a:xfrm>
            <a:off x="609600" y="329126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0"/>
          <p:cNvSpPr/>
          <p:nvPr/>
        </p:nvSpPr>
        <p:spPr>
          <a:xfrm>
            <a:off x="609600" y="293407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Q9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1123950" y="293407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Sugar price rises 25%. Cut consumption by what % to keep spend the same?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>
            <a:off x="609600" y="37389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0"/>
          <p:cNvSpPr/>
          <p:nvPr/>
        </p:nvSpPr>
        <p:spPr>
          <a:xfrm>
            <a:off x="609600" y="33817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Q10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1123950" y="33817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16.67% of 726 + 12.5% of 640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8344979" y="4716810"/>
            <a:ext cx="1893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153" name="Google Shape;153;p21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/>
          <p:nvPr/>
        </p:nvSpPr>
        <p:spPr>
          <a:xfrm>
            <a:off x="609600" y="609600"/>
            <a:ext cx="1949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CHECK YOUR SCORE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Which band are you in?</a:t>
            </a:r>
            <a:endParaRPr sz="2900"/>
          </a:p>
        </p:txBody>
      </p:sp>
      <p:sp>
        <p:nvSpPr>
          <p:cNvPr id="156" name="Google Shape;156;p21"/>
          <p:cNvSpPr/>
          <p:nvPr/>
        </p:nvSpPr>
        <p:spPr>
          <a:xfrm>
            <a:off x="614362" y="1510085"/>
            <a:ext cx="2530450" cy="1493453"/>
          </a:xfrm>
          <a:prstGeom prst="roundRect">
            <a:avLst>
              <a:gd fmla="val 5421" name="adj"/>
            </a:avLst>
          </a:prstGeom>
          <a:solidFill>
            <a:srgbClr val="E6F9F1"/>
          </a:solidFill>
          <a:ln cap="flat" cmpd="sng" w="12700">
            <a:solidFill>
              <a:srgbClr val="E6F9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809625" y="1705347"/>
            <a:ext cx="220412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6A3E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36A3E"/>
                </a:solidFill>
                <a:latin typeface="Inter"/>
                <a:ea typeface="Inter"/>
                <a:cs typeface="Inter"/>
                <a:sym typeface="Inter"/>
              </a:rPr>
              <a:t>9–10 CORRECT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809625" y="1972047"/>
            <a:ext cx="2204123" cy="32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Sprinter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809625" y="2345420"/>
            <a:ext cx="2204123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Your job today: cut your time further.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3306738" y="1510085"/>
            <a:ext cx="2530487" cy="1493453"/>
          </a:xfrm>
          <a:prstGeom prst="roundRect">
            <a:avLst>
              <a:gd fmla="val 5421" name="adj"/>
            </a:avLst>
          </a:prstGeom>
          <a:solidFill>
            <a:srgbClr val="E6F3FF"/>
          </a:solidFill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3502001" y="1705347"/>
            <a:ext cx="22041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6–8 CORRECT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3502001" y="1972047"/>
            <a:ext cx="2204162" cy="32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Steady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502001" y="2345420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Your job today: fix the 2–4 you missed.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5999150" y="1510085"/>
            <a:ext cx="2530487" cy="1493453"/>
          </a:xfrm>
          <a:prstGeom prst="roundRect">
            <a:avLst>
              <a:gd fmla="val 5421" name="adj"/>
            </a:avLst>
          </a:prstGeom>
          <a:solidFill>
            <a:srgbClr val="FFF6F0"/>
          </a:solidFill>
          <a:ln cap="flat" cmpd="sng" w="12700">
            <a:solidFill>
              <a:srgbClr val="FFF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6194413" y="1705347"/>
            <a:ext cx="22041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351B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A8351B"/>
                </a:solidFill>
                <a:latin typeface="Inter"/>
                <a:ea typeface="Inter"/>
                <a:cs typeface="Inter"/>
                <a:sym typeface="Inter"/>
              </a:rPr>
              <a:t>0–5 CORRECT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6194413" y="1972047"/>
            <a:ext cx="2204162" cy="32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Builder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6194413" y="2345420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Your job today: own the six shortcuts.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609600" y="3236900"/>
            <a:ext cx="8162544" cy="263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Hands up for each band. Write your score and finish time in your error log.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175" name="Google Shape;175;p22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609600" y="609600"/>
            <a:ext cx="11897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1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Think in fractions, not percentages</a:t>
            </a:r>
            <a:endParaRPr sz="2900"/>
          </a:p>
        </p:txBody>
      </p:sp>
      <p:sp>
        <p:nvSpPr>
          <p:cNvPr id="178" name="Google Shape;178;p22"/>
          <p:cNvSpPr/>
          <p:nvPr/>
        </p:nvSpPr>
        <p:spPr>
          <a:xfrm>
            <a:off x="614363" y="1510084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127339" y="1619622"/>
            <a:ext cx="473229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1/2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116758" y="2021570"/>
            <a:ext cx="494392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50%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2218357" y="1510084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2728298" y="1619622"/>
            <a:ext cx="479301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1/3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552960" y="2021570"/>
            <a:ext cx="830014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33.33%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3822352" y="1510084"/>
            <a:ext cx="1499257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4327196" y="1619622"/>
            <a:ext cx="489570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1/4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4328759" y="2021570"/>
            <a:ext cx="486445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5426385" y="1510084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5939987" y="1619622"/>
            <a:ext cx="471979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1/5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5927660" y="2021570"/>
            <a:ext cx="496670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030380" y="1510084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7539517" y="1619622"/>
            <a:ext cx="480908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1/6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395258" y="2021570"/>
            <a:ext cx="769426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16.67%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614363" y="2489225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1135328" y="2598762"/>
            <a:ext cx="457289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1/7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968522" y="3000710"/>
            <a:ext cx="790903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14.28%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2218357" y="2489225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2727089" y="2598762"/>
            <a:ext cx="481756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1/8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2645204" y="3000710"/>
            <a:ext cx="645527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12.5%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822352" y="2489225"/>
            <a:ext cx="1499257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4331527" y="2598762"/>
            <a:ext cx="480908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1/9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254199" y="3000710"/>
            <a:ext cx="635526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11.11%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5426385" y="2489225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900202" y="2598762"/>
            <a:ext cx="551587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1/11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827786" y="3000710"/>
            <a:ext cx="696382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9.09%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7030380" y="2489225"/>
            <a:ext cx="1499220" cy="874365"/>
          </a:xfrm>
          <a:prstGeom prst="roundRect">
            <a:avLst>
              <a:gd fmla="val 817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7472764" y="2598762"/>
            <a:ext cx="614452" cy="39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1/12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7433608" y="3000710"/>
            <a:ext cx="692765" cy="27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8.33%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09600" y="3596953"/>
            <a:ext cx="8162544" cy="28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600"/>
              <a:buFont typeface="Inter"/>
              <a:buNone/>
            </a:pPr>
            <a:r>
              <a:rPr b="1" i="0" lang="en" sz="16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" sz="16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37.5% of 640 → 3/8 × 640 = </a:t>
            </a:r>
            <a:r>
              <a:rPr b="1" i="0" lang="en" sz="16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240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215" name="Google Shape;215;p23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609600" y="609600"/>
            <a:ext cx="1084101" cy="262867"/>
          </a:xfrm>
          <a:prstGeom prst="roundRect">
            <a:avLst>
              <a:gd fmla="val 50000" name="adj"/>
            </a:avLst>
          </a:prstGeom>
          <a:solidFill>
            <a:srgbClr val="A835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GAME · 3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788951" y="641003"/>
            <a:ext cx="181759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RAPID-FIRE ROUND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3"/>
          <p:cNvSpPr txBox="1"/>
          <p:nvPr>
            <p:ph type="title"/>
          </p:nvPr>
        </p:nvSpPr>
        <p:spPr>
          <a:xfrm>
            <a:off x="609600" y="948668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Shout it out</a:t>
            </a:r>
            <a:endParaRPr sz="2900"/>
          </a:p>
        </p:txBody>
      </p:sp>
      <p:sp>
        <p:nvSpPr>
          <p:cNvPr id="219" name="Google Shape;219;p23"/>
          <p:cNvSpPr/>
          <p:nvPr/>
        </p:nvSpPr>
        <p:spPr>
          <a:xfrm>
            <a:off x="614363" y="1572927"/>
            <a:ext cx="38862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62.5% = ?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643438" y="1572927"/>
            <a:ext cx="38862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14.28% of 350 = ?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614363" y="2533018"/>
            <a:ext cx="38862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83.33% = ?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4643438" y="2533018"/>
            <a:ext cx="38862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11.11% of 999 = ?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609600" y="3583595"/>
            <a:ext cx="8162544" cy="263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Mentor calls a card. The whole room shouts the answer. Fastest row wins the round.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230" name="Google Shape;230;p24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609600" y="609600"/>
            <a:ext cx="12236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2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4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Successive percentage change</a:t>
            </a:r>
            <a:endParaRPr sz="2900"/>
          </a:p>
        </p:txBody>
      </p:sp>
      <p:sp>
        <p:nvSpPr>
          <p:cNvPr id="233" name="Google Shape;233;p24"/>
          <p:cNvSpPr/>
          <p:nvPr/>
        </p:nvSpPr>
        <p:spPr>
          <a:xfrm>
            <a:off x="609600" y="1505322"/>
            <a:ext cx="3226780" cy="1293465"/>
          </a:xfrm>
          <a:prstGeom prst="roundRect">
            <a:avLst>
              <a:gd fmla="val 6628" name="adj"/>
            </a:avLst>
          </a:prstGeom>
          <a:solidFill>
            <a:srgbClr val="0017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838200" y="1733922"/>
            <a:ext cx="2852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NET CHANGE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838200" y="2010147"/>
            <a:ext cx="299818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+ b + ab/100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609600" y="2913087"/>
            <a:ext cx="3323583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Use + for increase, − for decrease.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4069742" y="1510084"/>
            <a:ext cx="3285455" cy="850180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265005" y="1705347"/>
            <a:ext cx="2981778" cy="203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+20% then −20%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265005" y="1956010"/>
            <a:ext cx="2981778" cy="2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89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20 − 20 − 4 = −4%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069742" y="2484090"/>
            <a:ext cx="3285455" cy="850218"/>
          </a:xfrm>
          <a:prstGeom prst="roundRect">
            <a:avLst>
              <a:gd fmla="val 952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4265005" y="2679353"/>
            <a:ext cx="2981778" cy="20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8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Two discounts: 20% and 10%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4265005" y="2930053"/>
            <a:ext cx="2981778" cy="22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989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−20 −10 + 2 = −28%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069742" y="3458133"/>
            <a:ext cx="3285455" cy="850218"/>
          </a:xfrm>
          <a:prstGeom prst="roundRect">
            <a:avLst>
              <a:gd fmla="val 9523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550" lIns="0" spcFirstLastPara="1" rIns="0" wrap="square" tIns="17155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Your turn: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+25% then −20%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250" name="Google Shape;250;p25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/>
          <p:nvPr/>
        </p:nvSpPr>
        <p:spPr>
          <a:xfrm>
            <a:off x="609600" y="609600"/>
            <a:ext cx="12264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3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Multipliers for profit &amp; discount</a:t>
            </a:r>
            <a:endParaRPr sz="2900"/>
          </a:p>
        </p:txBody>
      </p:sp>
      <p:sp>
        <p:nvSpPr>
          <p:cNvPr id="253" name="Google Shape;253;p25"/>
          <p:cNvSpPr/>
          <p:nvPr/>
        </p:nvSpPr>
        <p:spPr>
          <a:xfrm>
            <a:off x="614363" y="1510084"/>
            <a:ext cx="2555863" cy="103629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809625" y="1705347"/>
            <a:ext cx="22302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Profit 20%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809625" y="1991097"/>
            <a:ext cx="2230298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× 1.20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3294050" y="1510084"/>
            <a:ext cx="2555900" cy="103629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3489313" y="1705347"/>
            <a:ext cx="223033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Loss 10%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3489313" y="1991097"/>
            <a:ext cx="2230336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× 0.90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973775" y="1510084"/>
            <a:ext cx="2555863" cy="103629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6169037" y="1705347"/>
            <a:ext cx="22302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Discount 25%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169037" y="1991097"/>
            <a:ext cx="2230298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× 0.75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614363" y="2689250"/>
            <a:ext cx="3895725" cy="929581"/>
          </a:xfrm>
          <a:prstGeom prst="roundRect">
            <a:avLst>
              <a:gd fmla="val 8710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809625" y="2884512"/>
            <a:ext cx="3610356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Marked 40% above cost, 25% discount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809625" y="3182615"/>
            <a:ext cx="3610356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1.4 × 0.75 = 1.05 → </a:t>
            </a:r>
            <a:r>
              <a:rPr b="1" i="0" lang="en" sz="1700" u="none" cap="none" strike="noStrike">
                <a:solidFill>
                  <a:srgbClr val="036A3E"/>
                </a:solidFill>
                <a:latin typeface="Inter"/>
                <a:ea typeface="Inter"/>
                <a:cs typeface="Inter"/>
                <a:sym typeface="Inter"/>
              </a:rPr>
              <a:t>5% profit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4633913" y="2689250"/>
            <a:ext cx="3895725" cy="929581"/>
          </a:xfrm>
          <a:prstGeom prst="roundRect">
            <a:avLst>
              <a:gd fmla="val 8710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550" lIns="171550" spcFirstLastPara="1" rIns="6640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Your turn: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Marked 60% above cost, 25% discount. Profit %?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272" name="Google Shape;272;p26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/>
          <p:nvPr/>
        </p:nvSpPr>
        <p:spPr>
          <a:xfrm>
            <a:off x="609600" y="609600"/>
            <a:ext cx="123171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4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6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Chaining ratios</a:t>
            </a:r>
            <a:endParaRPr sz="2900"/>
          </a:p>
        </p:txBody>
      </p:sp>
      <p:sp>
        <p:nvSpPr>
          <p:cNvPr id="275" name="Google Shape;275;p26"/>
          <p:cNvSpPr/>
          <p:nvPr/>
        </p:nvSpPr>
        <p:spPr>
          <a:xfrm>
            <a:off x="614363" y="1510085"/>
            <a:ext cx="4213064" cy="1652550"/>
          </a:xfrm>
          <a:prstGeom prst="roundRect">
            <a:avLst>
              <a:gd fmla="val 4899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809625" y="1705347"/>
            <a:ext cx="39372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 : B = 3 : 4 and B : C = 6 : 5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809625" y="2029197"/>
            <a:ext cx="4013039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Make B common: LCM of 4 and 6 = 12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809625" y="2336825"/>
            <a:ext cx="39372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 : B = 9 : 12 · B : C = 12 : 10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809625" y="2660675"/>
            <a:ext cx="3937215" cy="32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2100"/>
              <a:buFont typeface="Inter"/>
              <a:buNone/>
            </a:pPr>
            <a:r>
              <a:rPr b="1" i="0" lang="en" sz="2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A : B : C = 9 : 12 : 10</a:t>
            </a:r>
            <a:endParaRPr b="0"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5065551" y="1510085"/>
            <a:ext cx="1545431" cy="1652550"/>
          </a:xfrm>
          <a:prstGeom prst="roundRect">
            <a:avLst>
              <a:gd fmla="val 5239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550" lIns="171550" spcFirstLastPara="1" rIns="13345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Your turn: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A : B = 2 : 3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B : C = 5 : 7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A : B : C = ?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287" name="Google Shape;287;p27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/>
          <p:nvPr/>
        </p:nvSpPr>
        <p:spPr>
          <a:xfrm>
            <a:off x="609600" y="609600"/>
            <a:ext cx="1222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5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7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CI vs SI in one line</a:t>
            </a:r>
            <a:endParaRPr sz="2900"/>
          </a:p>
        </p:txBody>
      </p:sp>
      <p:sp>
        <p:nvSpPr>
          <p:cNvPr id="290" name="Google Shape;290;p27"/>
          <p:cNvSpPr/>
          <p:nvPr/>
        </p:nvSpPr>
        <p:spPr>
          <a:xfrm>
            <a:off x="614362" y="1510085"/>
            <a:ext cx="2530450" cy="1819127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809625" y="1705347"/>
            <a:ext cx="2204123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2 years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809625" y="2012975"/>
            <a:ext cx="2204123" cy="610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CI − SI = P × (r/100)²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809625" y="2671093"/>
            <a:ext cx="2204123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₹10,000 at 10% → 10,000 × 0.01 = </a:t>
            </a:r>
            <a:r>
              <a:rPr b="1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₹100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306738" y="1510085"/>
            <a:ext cx="2530487" cy="1819127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3502001" y="1705347"/>
            <a:ext cx="2204162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3 years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502001" y="2012975"/>
            <a:ext cx="22041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CI − SI = P × (r/100)² × (3 + r/100)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3502001" y="2594000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₹10,000 at 10% → 100 × 3.1 = </a:t>
            </a:r>
            <a:r>
              <a:rPr b="1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₹310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5999150" y="1510085"/>
            <a:ext cx="2530487" cy="1819127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6194413" y="1705347"/>
            <a:ext cx="2204162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Doubling rule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194413" y="2012975"/>
            <a:ext cx="22041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Doubles in n years → 4× in 2n, 8× in 3n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6194413" y="2594000"/>
            <a:ext cx="2204162" cy="481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Doubles in 5 years → 8× in </a:t>
            </a:r>
            <a:r>
              <a:rPr b="1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15 years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614363" y="3567336"/>
            <a:ext cx="7915275" cy="647700"/>
          </a:xfrm>
          <a:prstGeom prst="roundRect">
            <a:avLst>
              <a:gd fmla="val 12500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00" lIns="171550" spcFirstLastPara="1" rIns="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Your turn: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CI − SI on ₹20,000 at 5% for 2 years = 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309" name="Google Shape;309;p28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/>
          <p:nvPr/>
        </p:nvSpPr>
        <p:spPr>
          <a:xfrm>
            <a:off x="609600" y="599219"/>
            <a:ext cx="12271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SHORTCUT 6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8"/>
          <p:cNvSpPr txBox="1"/>
          <p:nvPr>
            <p:ph type="title"/>
          </p:nvPr>
        </p:nvSpPr>
        <p:spPr>
          <a:xfrm>
            <a:off x="609600" y="865064"/>
            <a:ext cx="8162544" cy="369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7984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600"/>
              <a:buFont typeface="Inter"/>
              <a:buNone/>
            </a:pPr>
            <a:r>
              <a:rPr b="1" i="0" lang="en" sz="26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Alligation: the cross method</a:t>
            </a:r>
            <a:endParaRPr sz="2600"/>
          </a:p>
        </p:txBody>
      </p:sp>
      <p:sp>
        <p:nvSpPr>
          <p:cNvPr id="312" name="Google Shape;312;p28"/>
          <p:cNvSpPr/>
          <p:nvPr/>
        </p:nvSpPr>
        <p:spPr>
          <a:xfrm>
            <a:off x="614363" y="1448768"/>
            <a:ext cx="1129047" cy="741685"/>
          </a:xfrm>
          <a:prstGeom prst="roundRect">
            <a:avLst>
              <a:gd fmla="val 9632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877442" y="1567830"/>
            <a:ext cx="602888" cy="18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Cheaper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929012" y="1776227"/>
            <a:ext cx="499750" cy="31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₹40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1867235" y="1448768"/>
            <a:ext cx="1129085" cy="741685"/>
          </a:xfrm>
          <a:prstGeom prst="roundRect">
            <a:avLst>
              <a:gd fmla="val 9632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2193805" y="1567830"/>
            <a:ext cx="475908" cy="18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Dearer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2196260" y="1776227"/>
            <a:ext cx="470996" cy="31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₹55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614363" y="2295227"/>
            <a:ext cx="2381957" cy="741685"/>
          </a:xfrm>
          <a:prstGeom prst="roundRect">
            <a:avLst>
              <a:gd fmla="val 9632" name="adj"/>
            </a:avLst>
          </a:prstGeom>
          <a:solidFill>
            <a:srgbClr val="E6F3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1408799" y="2414290"/>
            <a:ext cx="793046" cy="18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Mean price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562837" y="2622686"/>
            <a:ext cx="484971" cy="31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₹45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614363" y="3141687"/>
            <a:ext cx="1129047" cy="1235050"/>
          </a:xfrm>
          <a:prstGeom prst="roundRect">
            <a:avLst>
              <a:gd fmla="val 632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733425" y="3260750"/>
            <a:ext cx="929022" cy="369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3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Parts of cheaper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733425" y="3649638"/>
            <a:ext cx="929022" cy="62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55 − 45 = 10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1867235" y="3141687"/>
            <a:ext cx="1129085" cy="1235050"/>
          </a:xfrm>
          <a:prstGeom prst="roundRect">
            <a:avLst>
              <a:gd fmla="val 632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986297" y="3260750"/>
            <a:ext cx="929060" cy="369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13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Parts of dearer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1986297" y="3649638"/>
            <a:ext cx="929060" cy="627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45 − 40 = 5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3229682" y="1444005"/>
            <a:ext cx="5304718" cy="1118220"/>
          </a:xfrm>
          <a:prstGeom prst="roundRect">
            <a:avLst>
              <a:gd fmla="val 7666" name="adj"/>
            </a:avLst>
          </a:prstGeom>
          <a:solidFill>
            <a:srgbClr val="0017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3420182" y="1634505"/>
            <a:ext cx="50714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RATIO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3420182" y="1891680"/>
            <a:ext cx="5071429" cy="4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: 5 = 2 : 1</a:t>
            </a:r>
            <a:endParaRPr b="0" i="0" sz="2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3234445" y="2700338"/>
            <a:ext cx="5295193" cy="1676400"/>
          </a:xfrm>
          <a:prstGeom prst="roundRect">
            <a:avLst>
              <a:gd fmla="val 4830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1550" lIns="171550" spcFirstLastPara="1" rIns="2440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Your turn: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Milk at ₹60/L is mixed with water to sell at ₹50/L. Milk : water?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337" name="Google Shape;337;p29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/>
          <p:nvPr/>
        </p:nvSpPr>
        <p:spPr>
          <a:xfrm>
            <a:off x="609600" y="609600"/>
            <a:ext cx="20200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CALCULATION SPEED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9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Four tricks for faster arithmetic</a:t>
            </a:r>
            <a:endParaRPr sz="2900"/>
          </a:p>
        </p:txBody>
      </p:sp>
      <p:sp>
        <p:nvSpPr>
          <p:cNvPr id="340" name="Google Shape;340;p29"/>
          <p:cNvSpPr/>
          <p:nvPr/>
        </p:nvSpPr>
        <p:spPr>
          <a:xfrm>
            <a:off x="614363" y="1510084"/>
            <a:ext cx="3886200" cy="955328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809625" y="1705347"/>
            <a:ext cx="3600545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× 5 = × 10 ÷ 2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809625" y="2012975"/>
            <a:ext cx="36005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68 × 5 → 680 ÷ 2 = </a:t>
            </a:r>
            <a:r>
              <a:rPr b="1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340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4643438" y="1510084"/>
            <a:ext cx="3886200" cy="955328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4838700" y="1705347"/>
            <a:ext cx="3600545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× 25 = × 100 ÷ 4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4838700" y="2012975"/>
            <a:ext cx="36005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48 × 25 → 4,800 ÷ 4 = </a:t>
            </a:r>
            <a:r>
              <a:rPr b="1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1,200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614363" y="2608287"/>
            <a:ext cx="3886200" cy="955328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809625" y="2803550"/>
            <a:ext cx="3600545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Squares near 100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809625" y="3111178"/>
            <a:ext cx="36005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97² → 100 − 3 → 94 | 09 = </a:t>
            </a:r>
            <a:r>
              <a:rPr b="1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9,409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643438" y="2608287"/>
            <a:ext cx="3886200" cy="955328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9"/>
          <p:cNvSpPr/>
          <p:nvPr/>
        </p:nvSpPr>
        <p:spPr>
          <a:xfrm>
            <a:off x="4838700" y="2803550"/>
            <a:ext cx="3600545" cy="260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Around a middle number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838700" y="3111178"/>
            <a:ext cx="36005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47 × 53 → 50² − 3² = </a:t>
            </a:r>
            <a:r>
              <a:rPr b="1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2,491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358" name="Google Shape;358;p30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/>
          <p:nvPr/>
        </p:nvSpPr>
        <p:spPr>
          <a:xfrm>
            <a:off x="609600" y="609600"/>
            <a:ext cx="1085143" cy="262867"/>
          </a:xfrm>
          <a:prstGeom prst="roundRect">
            <a:avLst>
              <a:gd fmla="val 50000" name="adj"/>
            </a:avLst>
          </a:prstGeom>
          <a:solidFill>
            <a:srgbClr val="A835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GAME · 8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789993" y="641003"/>
            <a:ext cx="22478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BEAT THE CALCULATOR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30"/>
          <p:cNvSpPr txBox="1"/>
          <p:nvPr>
            <p:ph type="title"/>
          </p:nvPr>
        </p:nvSpPr>
        <p:spPr>
          <a:xfrm>
            <a:off x="609600" y="948668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Brain vs phone</a:t>
            </a:r>
            <a:endParaRPr sz="2900"/>
          </a:p>
        </p:txBody>
      </p:sp>
      <p:sp>
        <p:nvSpPr>
          <p:cNvPr id="362" name="Google Shape;362;p30"/>
          <p:cNvSpPr/>
          <p:nvPr/>
        </p:nvSpPr>
        <p:spPr>
          <a:xfrm>
            <a:off x="614363" y="1572927"/>
            <a:ext cx="2555863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96 × 104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3294050" y="1572927"/>
            <a:ext cx="2555863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35²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5973738" y="1572927"/>
            <a:ext cx="25559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64 × 25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614363" y="2513968"/>
            <a:ext cx="2555863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12.5% of 968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3294050" y="2513968"/>
            <a:ext cx="2555863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103²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5973738" y="2513968"/>
            <a:ext cx="2555900" cy="817215"/>
          </a:xfrm>
          <a:prstGeom prst="roundRect">
            <a:avLst>
              <a:gd fmla="val 9907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025" lIns="171550" spcFirstLastPara="1" rIns="171550" wrap="square" tIns="16202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400"/>
              <a:buFont typeface="Inter"/>
              <a:buNone/>
            </a:pPr>
            <a:r>
              <a:rPr b="1" i="0" lang="en" sz="2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45 × 55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609600" y="3564545"/>
            <a:ext cx="8534400" cy="263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Two volunteers: one with a phone calculator, one with only their head. Who answers first?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3D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/>
          <p:nvPr/>
        </p:nvSpPr>
        <p:spPr>
          <a:xfrm>
            <a:off x="7753350" y="171450"/>
            <a:ext cx="933450" cy="43815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ard Infinity" id="376" name="Google Shape;376;p31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839075" y="20955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1"/>
          <p:cNvSpPr/>
          <p:nvPr/>
        </p:nvSpPr>
        <p:spPr>
          <a:xfrm>
            <a:off x="609600" y="1802122"/>
            <a:ext cx="81625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Inter"/>
              <a:buNone/>
            </a:pPr>
            <a:r>
              <a:rPr b="1" i="0" lang="en" sz="5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</a:t>
            </a:r>
            <a:endParaRPr b="0" i="0" sz="5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609600" y="2868923"/>
            <a:ext cx="8162544" cy="339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1800"/>
              <a:buFont typeface="Inter"/>
              <a:buNone/>
            </a:pPr>
            <a:r>
              <a:rPr b="0" i="0" lang="en" sz="18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10 minutes. Back at </a:t>
            </a:r>
            <a:r>
              <a:rPr b="1" i="0" lang="en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[time]</a:t>
            </a:r>
            <a:r>
              <a:rPr b="0" i="0" lang="en" sz="18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 for graded practice.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385" name="Google Shape;385;p32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2"/>
          <p:cNvSpPr/>
          <p:nvPr/>
        </p:nvSpPr>
        <p:spPr>
          <a:xfrm>
            <a:off x="609600" y="609600"/>
            <a:ext cx="41439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GRADED PRACTICE · LEVEL 1 · PAIRS · 6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32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Moderate: apply the shortcuts</a:t>
            </a:r>
            <a:endParaRPr sz="2900"/>
          </a:p>
        </p:txBody>
      </p:sp>
      <p:cxnSp>
        <p:nvCxnSpPr>
          <p:cNvPr id="388" name="Google Shape;388;p32"/>
          <p:cNvCxnSpPr/>
          <p:nvPr/>
        </p:nvCxnSpPr>
        <p:spPr>
          <a:xfrm>
            <a:off x="609600" y="19482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32"/>
          <p:cNvSpPr/>
          <p:nvPr/>
        </p:nvSpPr>
        <p:spPr>
          <a:xfrm>
            <a:off x="609600" y="15910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1123950" y="15910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Goods are marked 30% above cost and sold at 10% discount. Profit %?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1" name="Google Shape;391;p32"/>
          <p:cNvCxnSpPr/>
          <p:nvPr/>
        </p:nvCxnSpPr>
        <p:spPr>
          <a:xfrm>
            <a:off x="609600" y="262451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32"/>
          <p:cNvSpPr/>
          <p:nvPr/>
        </p:nvSpPr>
        <p:spPr>
          <a:xfrm>
            <a:off x="609600" y="203872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1123950" y="2038722"/>
            <a:ext cx="76327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Population of 50,000 grows 10% in year 1 and falls 10% in year 2. Final population?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4" name="Google Shape;394;p32"/>
          <p:cNvCxnSpPr/>
          <p:nvPr/>
        </p:nvCxnSpPr>
        <p:spPr>
          <a:xfrm>
            <a:off x="609600" y="307218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32"/>
          <p:cNvSpPr/>
          <p:nvPr/>
        </p:nvSpPr>
        <p:spPr>
          <a:xfrm>
            <a:off x="609600" y="271499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1123950" y="271499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₹2,600 is divided among A, B, C in the ratio ½ : ⅓ : ¼. A's share?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7" name="Google Shape;397;p32"/>
          <p:cNvCxnSpPr/>
          <p:nvPr/>
        </p:nvCxnSpPr>
        <p:spPr>
          <a:xfrm>
            <a:off x="609600" y="351986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32"/>
          <p:cNvSpPr/>
          <p:nvPr/>
        </p:nvSpPr>
        <p:spPr>
          <a:xfrm>
            <a:off x="609600" y="316267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1123950" y="316267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A's income is 25% more than B's. B's income is what % less than A's?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406" name="Google Shape;406;p33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3"/>
          <p:cNvSpPr/>
          <p:nvPr/>
        </p:nvSpPr>
        <p:spPr>
          <a:xfrm>
            <a:off x="609600" y="609600"/>
            <a:ext cx="41374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GRADED PRACTICE · LEVEL 2 · SOLO · 8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33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Advanced: company-level difficulty</a:t>
            </a:r>
            <a:endParaRPr sz="2900"/>
          </a:p>
        </p:txBody>
      </p:sp>
      <p:cxnSp>
        <p:nvCxnSpPr>
          <p:cNvPr id="409" name="Google Shape;409;p33"/>
          <p:cNvCxnSpPr/>
          <p:nvPr/>
        </p:nvCxnSpPr>
        <p:spPr>
          <a:xfrm>
            <a:off x="609600" y="194823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33"/>
          <p:cNvSpPr/>
          <p:nvPr/>
        </p:nvSpPr>
        <p:spPr>
          <a:xfrm>
            <a:off x="609600" y="159104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Q5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1123950" y="159104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On ₹5,000: two discounts of 20% and 10%, or one of 30%? Difference in price?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2" name="Google Shape;412;p33"/>
          <p:cNvCxnSpPr/>
          <p:nvPr/>
        </p:nvCxnSpPr>
        <p:spPr>
          <a:xfrm>
            <a:off x="609600" y="239591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33"/>
          <p:cNvSpPr/>
          <p:nvPr/>
        </p:nvSpPr>
        <p:spPr>
          <a:xfrm>
            <a:off x="609600" y="203872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Q6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1123950" y="203872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 shopkeeper uses a 900 g weight for 1 kg and sells at cost price. Gain %?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5" name="Google Shape;415;p33"/>
          <p:cNvCxnSpPr/>
          <p:nvPr/>
        </p:nvCxnSpPr>
        <p:spPr>
          <a:xfrm>
            <a:off x="609600" y="2843585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33"/>
          <p:cNvSpPr/>
          <p:nvPr/>
        </p:nvSpPr>
        <p:spPr>
          <a:xfrm>
            <a:off x="609600" y="2486397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Q7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1123950" y="2486397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20 L of milk and water are in ratio 3 : 1. How much water to add to make it 3 : 2?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8" name="Google Shape;418;p33"/>
          <p:cNvCxnSpPr/>
          <p:nvPr/>
        </p:nvCxnSpPr>
        <p:spPr>
          <a:xfrm>
            <a:off x="609600" y="329126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E6F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33"/>
          <p:cNvSpPr/>
          <p:nvPr/>
        </p:nvSpPr>
        <p:spPr>
          <a:xfrm>
            <a:off x="609600" y="2934072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75EB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75EB"/>
                </a:solidFill>
                <a:latin typeface="Inter"/>
                <a:ea typeface="Inter"/>
                <a:cs typeface="Inter"/>
                <a:sym typeface="Inter"/>
              </a:rPr>
              <a:t>Q8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1123950" y="2934072"/>
            <a:ext cx="76327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 sum doubles in 5 years at compound interest. When will it become 8 times?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427" name="Google Shape;427;p34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4"/>
          <p:cNvSpPr/>
          <p:nvPr/>
        </p:nvSpPr>
        <p:spPr>
          <a:xfrm>
            <a:off x="609600" y="609600"/>
            <a:ext cx="1262100" cy="262867"/>
          </a:xfrm>
          <a:prstGeom prst="roundRect">
            <a:avLst>
              <a:gd fmla="val 50000" name="adj"/>
            </a:avLst>
          </a:prstGeom>
          <a:solidFill>
            <a:srgbClr val="A835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 · 20 MIN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966950" y="641003"/>
            <a:ext cx="135735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TIMED SPRINT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4"/>
          <p:cNvSpPr txBox="1"/>
          <p:nvPr>
            <p:ph type="title"/>
          </p:nvPr>
        </p:nvSpPr>
        <p:spPr>
          <a:xfrm>
            <a:off x="609600" y="948668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The two-pass strategy</a:t>
            </a:r>
            <a:endParaRPr sz="2900"/>
          </a:p>
        </p:txBody>
      </p:sp>
      <p:sp>
        <p:nvSpPr>
          <p:cNvPr id="431" name="Google Shape;431;p34"/>
          <p:cNvSpPr/>
          <p:nvPr/>
        </p:nvSpPr>
        <p:spPr>
          <a:xfrm>
            <a:off x="614362" y="1572927"/>
            <a:ext cx="2530450" cy="1651992"/>
          </a:xfrm>
          <a:prstGeom prst="roundRect">
            <a:avLst>
              <a:gd fmla="val 490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809625" y="1768190"/>
            <a:ext cx="2204123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PASS 1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809625" y="2027746"/>
            <a:ext cx="2204123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12 min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809625" y="2335374"/>
            <a:ext cx="2204123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Solve every sure-shot. Skip anything over 90 seconds.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3306738" y="1572927"/>
            <a:ext cx="2530487" cy="1651992"/>
          </a:xfrm>
          <a:prstGeom prst="roundRect">
            <a:avLst>
              <a:gd fmla="val 490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4"/>
          <p:cNvSpPr/>
          <p:nvPr/>
        </p:nvSpPr>
        <p:spPr>
          <a:xfrm>
            <a:off x="3502001" y="1768190"/>
            <a:ext cx="2204162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PASS 2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3502001" y="2027746"/>
            <a:ext cx="2204162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6 min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3502001" y="2335374"/>
            <a:ext cx="2204162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Return to skipped questions. Pick the easiest first.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5999150" y="1572927"/>
            <a:ext cx="2530487" cy="1651992"/>
          </a:xfrm>
          <a:prstGeom prst="roundRect">
            <a:avLst>
              <a:gd fmla="val 4901" name="adj"/>
            </a:avLst>
          </a:prstGeom>
          <a:solidFill>
            <a:srgbClr val="FFFFFF"/>
          </a:solidFill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6194413" y="1768190"/>
            <a:ext cx="2204162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6194413" y="2027746"/>
            <a:ext cx="2204162" cy="26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2 min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6194413" y="2335374"/>
            <a:ext cx="2204162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Check marked answers. Fill blanks if there is no negative marking.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614363" y="3463045"/>
            <a:ext cx="7915275" cy="647700"/>
          </a:xfrm>
          <a:prstGeom prst="roundRect">
            <a:avLst>
              <a:gd fmla="val 12500" name="adj"/>
            </a:avLst>
          </a:prstGeom>
          <a:solidFill>
            <a:srgbClr val="FFF6F0"/>
          </a:solidFill>
          <a:ln cap="flat" cmpd="sng" w="12700">
            <a:solidFill>
              <a:srgbClr val="FFD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2500" lIns="171550" spcFirstLastPara="1" rIns="0" wrap="square" tIns="17155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20 questions · 20 minutes</a:t>
            </a:r>
            <a:r>
              <a:rPr b="0" i="0" lang="en" sz="15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on the practice platform or printed sheet.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ard Infinity" id="450" name="Google Shape;450;p35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924800" y="19050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5"/>
          <p:cNvSpPr/>
          <p:nvPr/>
        </p:nvSpPr>
        <p:spPr>
          <a:xfrm>
            <a:off x="609600" y="609600"/>
            <a:ext cx="7434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BD6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006BD6"/>
                </a:solidFill>
                <a:latin typeface="Inter"/>
                <a:ea typeface="Inter"/>
                <a:cs typeface="Inter"/>
                <a:sym typeface="Inter"/>
              </a:rPr>
              <a:t>REVIEW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35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Start your error log</a:t>
            </a:r>
            <a:endParaRPr sz="2900"/>
          </a:p>
        </p:txBody>
      </p:sp>
      <p:cxnSp>
        <p:nvCxnSpPr>
          <p:cNvPr id="453" name="Google Shape;453;p35"/>
          <p:cNvCxnSpPr/>
          <p:nvPr/>
        </p:nvCxnSpPr>
        <p:spPr>
          <a:xfrm>
            <a:off x="8529638" y="1505322"/>
            <a:ext cx="0" cy="1596331"/>
          </a:xfrm>
          <a:prstGeom prst="straightConnector1">
            <a:avLst/>
          </a:prstGeom>
          <a:noFill/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35"/>
          <p:cNvCxnSpPr/>
          <p:nvPr/>
        </p:nvCxnSpPr>
        <p:spPr>
          <a:xfrm>
            <a:off x="609600" y="3096890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BDDEF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55" name="Google Shape;455;p35"/>
          <p:cNvGraphicFramePr/>
          <p:nvPr/>
        </p:nvGraphicFramePr>
        <p:xfrm>
          <a:off x="619125" y="1514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{3636E2E1-6D2E-478E-81A9-23E695C854B5}</a:tableStyleId>
              </a:tblPr>
              <a:tblGrid>
                <a:gridCol w="1976425"/>
                <a:gridCol w="1976425"/>
                <a:gridCol w="1976425"/>
                <a:gridCol w="1976425"/>
              </a:tblGrid>
              <a:tr h="3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 no.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Topic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Why I missed 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 fix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CEC"/>
                    </a:solidFill>
                  </a:tcPr>
                </a:tc>
              </a:tr>
              <a:tr h="3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 vs SI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351B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A835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Concept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Revise P(r/100)²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C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Alligation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BD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006BD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Speed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Draw the cross first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Percentages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6A3E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036A3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Careless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Inter"/>
                        <a:buNone/>
                      </a:pPr>
                      <a:r>
                        <a:rPr lang="en" sz="1200" u="none" cap="none" strike="noStrike">
                          <a:solidFill>
                            <a:srgbClr val="26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Re-read what is asked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5725" marB="85725" marR="114300" marL="11430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6" name="Google Shape;456;p35"/>
          <p:cNvSpPr/>
          <p:nvPr/>
        </p:nvSpPr>
        <p:spPr>
          <a:xfrm>
            <a:off x="609600" y="3330253"/>
            <a:ext cx="8162544" cy="263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173D"/>
              </a:buClr>
              <a:buSzPts val="1400"/>
              <a:buFont typeface="Inter"/>
              <a:buNone/>
            </a:pPr>
            <a:r>
              <a:rPr b="0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Tag every miss: </a:t>
            </a: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Concept</a:t>
            </a:r>
            <a:r>
              <a:rPr b="0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Speed</a:t>
            </a:r>
            <a:r>
              <a:rPr b="0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Careless</a:t>
            </a:r>
            <a:r>
              <a:rPr b="0" i="0" lang="en" sz="1400" u="none" cap="none" strike="noStrike">
                <a:solidFill>
                  <a:srgbClr val="00173D"/>
                </a:solidFill>
                <a:latin typeface="Inter"/>
                <a:ea typeface="Inter"/>
                <a:cs typeface="Inter"/>
                <a:sym typeface="Inter"/>
              </a:rPr>
              <a:t>. Hands up — which tag did you get most?</a:t>
            </a:r>
            <a:endParaRPr b="0"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3D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"/>
          <p:cNvSpPr/>
          <p:nvPr/>
        </p:nvSpPr>
        <p:spPr>
          <a:xfrm>
            <a:off x="7753350" y="171450"/>
            <a:ext cx="933450" cy="43815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oard Infinity" id="464" name="Google Shape;464;p36"/>
          <p:cNvPicPr preferRelativeResize="0"/>
          <p:nvPr/>
        </p:nvPicPr>
        <p:blipFill rotWithShape="1">
          <a:blip r:embed="rId3">
            <a:alphaModFix/>
          </a:blip>
          <a:srcRect b="-121" l="0" r="0" t="-121"/>
          <a:stretch/>
        </p:blipFill>
        <p:spPr>
          <a:xfrm>
            <a:off x="7839075" y="209550"/>
            <a:ext cx="762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6"/>
          <p:cNvSpPr/>
          <p:nvPr/>
        </p:nvSpPr>
        <p:spPr>
          <a:xfrm>
            <a:off x="609600" y="609600"/>
            <a:ext cx="9229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WRAP-UP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6"/>
          <p:cNvSpPr txBox="1"/>
          <p:nvPr>
            <p:ph type="title"/>
          </p:nvPr>
        </p:nvSpPr>
        <p:spPr>
          <a:xfrm>
            <a:off x="609600" y="885825"/>
            <a:ext cx="8162544" cy="40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Inter"/>
              <a:buNone/>
            </a:pPr>
            <a:r>
              <a:rPr b="1" i="0" lang="en"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you take away today</a:t>
            </a:r>
            <a:endParaRPr sz="2900"/>
          </a:p>
        </p:txBody>
      </p:sp>
      <p:sp>
        <p:nvSpPr>
          <p:cNvPr id="467" name="Google Shape;467;p36"/>
          <p:cNvSpPr/>
          <p:nvPr/>
        </p:nvSpPr>
        <p:spPr>
          <a:xfrm>
            <a:off x="609600" y="1505322"/>
            <a:ext cx="3543750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SIX SHORTCUTS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609600" y="1774403"/>
            <a:ext cx="3543750" cy="86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Fractions · Successive change · Multipliers · Ratio chaining · CI − SI · Alligation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4431134" y="1505322"/>
            <a:ext cx="4226364" cy="211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AC4FF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8AC4FF"/>
                </a:solidFill>
                <a:latin typeface="Inter"/>
                <a:ea typeface="Inter"/>
                <a:cs typeface="Inter"/>
                <a:sym typeface="Inter"/>
              </a:rPr>
              <a:t>BEFORE SESSION 2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4431134" y="1774403"/>
            <a:ext cx="4226364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1500"/>
              <a:buFont typeface="Inter"/>
              <a:buNone/>
            </a:pPr>
            <a:r>
              <a:rPr b="0" i="0" lang="en" sz="15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30 questions in 30 minutes on the practice platform. Update your error log. Memorise fractions up to 1/12.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609600" y="2851658"/>
            <a:ext cx="7924800" cy="609600"/>
          </a:xfrm>
          <a:prstGeom prst="roundRect">
            <a:avLst>
              <a:gd fmla="val 14063" name="adj"/>
            </a:avLst>
          </a:prstGeom>
          <a:solidFill>
            <a:srgbClr val="002B6B"/>
          </a:solidFill>
          <a:ln>
            <a:noFill/>
          </a:ln>
        </p:spPr>
        <p:txBody>
          <a:bodyPr anchorCtr="0" anchor="t" bIns="127275" lIns="184425" spcFirstLastPara="1" rIns="0" wrap="square" tIns="1463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Next session:</a:t>
            </a:r>
            <a:r>
              <a:rPr b="0" i="0" lang="en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Time-work, TSD, probability &amp; permutations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609600" y="4716810"/>
            <a:ext cx="294733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7CEEA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B7CEEA"/>
                </a:solidFill>
                <a:latin typeface="Inter"/>
                <a:ea typeface="Inter"/>
                <a:cs typeface="Inter"/>
                <a:sym typeface="Inter"/>
              </a:rPr>
              <a:t>Board Infinity | Advanced Aptitude · Session 1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nnacle Aptitude S1 – Arithmetic Power Pack &amp; Calculation Speed">
  <a:themeElements>
    <a:clrScheme name="Pinnacle Aptitude S1 – Arithmetic Power Pack &amp; Calculation Speed">
      <a:dk1>
        <a:srgbClr val="00173D"/>
      </a:dk1>
      <a:lt1>
        <a:srgbClr val="FFFFFF"/>
      </a:lt1>
      <a:dk2>
        <a:srgbClr val="40516E"/>
      </a:dk2>
      <a:lt2>
        <a:srgbClr val="E6E8EC"/>
      </a:lt2>
      <a:accent1>
        <a:srgbClr val="006BD6"/>
      </a:accent1>
      <a:accent2>
        <a:srgbClr val="0075EB"/>
      </a:accent2>
      <a:accent3>
        <a:srgbClr val="B7CEEA"/>
      </a:accent3>
      <a:accent4>
        <a:srgbClr val="8AC4FF"/>
      </a:accent4>
      <a:accent5>
        <a:srgbClr val="A8351B"/>
      </a:accent5>
      <a:accent6>
        <a:srgbClr val="FFEBA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