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Carli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9D8370-0943-46C8-98CA-ABB57E31C322}">
  <a:tblStyle styleId="{D39D8370-0943-46C8-98CA-ABB57E31C32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Carlito-regular.fntdata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Carlito-italic.fntdata"/><Relationship Id="rId14" Type="http://schemas.openxmlformats.org/officeDocument/2006/relationships/slide" Target="slides/slide7.xml"/><Relationship Id="rId36" Type="http://schemas.openxmlformats.org/officeDocument/2006/relationships/font" Target="fonts/Carlito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schemas.openxmlformats.org/officeDocument/2006/relationships/font" Target="fonts/Carlito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608836c4d97ad38c_3_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h608836c4d97ad38c_3_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outcome: solve advanced quant under tight time and accuracy constraints. Format today: concept, then question, then the worked solution on the next slide.</a:t>
            </a:r>
            <a:endParaRPr/>
          </a:p>
        </p:txBody>
      </p:sp>
      <p:sp>
        <p:nvSpPr>
          <p:cNvPr id="60" name="Google Shape;60;h608836c4d97ad38c_3_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608836c4d97ad38c_3_1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h608836c4d97ad38c_3_1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3, 4, 5, 8, 9 and 10 are CAT level. Let students attempt each one alone for the target time before showing the solution.</a:t>
            </a:r>
            <a:endParaRPr/>
          </a:p>
        </p:txBody>
      </p:sp>
      <p:sp>
        <p:nvSpPr>
          <p:cNvPr id="70" name="Google Shape;70;h608836c4d97ad38c_3_1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608836c4d97ad38c_3_2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h608836c4d97ad38c_3_2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h608836c4d97ad38c_3_2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608836c4d97ad38c_3_3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h608836c4d97ad38c_3_3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h608836c4d97ad38c_3_3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608836c4d97ad38c_3_4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h608836c4d97ad38c_3_4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h608836c4d97ad38c_3_4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608836c4d97ad38c_3_5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h608836c4d97ad38c_3_5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h608836c4d97ad38c_3_5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608836c4d97ad38c_3_6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h608836c4d97ad38c_3_6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h608836c4d97ad38c_3_6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608836c4d97ad38c_3_7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h608836c4d97ad38c_3_7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h608836c4d97ad38c_3_7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608836c4d97ad38c_3_8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h608836c4d97ad38c_3_8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h608836c4d97ad38c_3_8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608836c4d97ad38c_3_9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h608836c4d97ad38c_3_9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h608836c4d97ad38c_3_9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608836c4d97ad38c_3_10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h608836c4d97ad38c_3_10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h608836c4d97ad38c_3_10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608836c4d97ad38c_3_11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h608836c4d97ad38c_3_11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h608836c4d97ad38c_3_11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608836c4d97ad38c_3_12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h608836c4d97ad38c_3_12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h608836c4d97ad38c_3_12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608836c4d97ad38c_3_13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h608836c4d97ad38c_3_13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h608836c4d97ad38c_3_13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h608836c4d97ad38c_3_14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h608836c4d97ad38c_3_14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h608836c4d97ad38c_3_14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608836c4d97ad38c_3_16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h608836c4d97ad38c_3_16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h608836c4d97ad38c_3_16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608836c4d97ad38c_3_16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h608836c4d97ad38c_3_16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h608836c4d97ad38c_3_16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h608836c4d97ad38c_3_17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h608836c4d97ad38c_3_17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h608836c4d97ad38c_3_17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608836c4d97ad38c_3_19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h608836c4d97ad38c_3_19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h608836c4d97ad38c_3_19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608836c4d97ad38c_3_19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h608836c4d97ad38c_3_19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h608836c4d97ad38c_3_19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608836c4d97ad38c_3_21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h608836c4d97ad38c_3_21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h608836c4d97ad38c_3_21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608836c4d97ad38c_3_22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h608836c4d97ad38c_3_22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h608836c4d97ad38c_3_22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h608836c4d97ad38c_3_23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h608836c4d97ad38c_3_23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h608836c4d97ad38c_3_23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h608836c4d97ad38c_3_24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h608836c4d97ad38c_3_24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h608836c4d97ad38c_3_24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h608836c4d97ad38c_3_25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h608836c4d97ad38c_3_25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h608836c4d97ad38c_3_25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608836c4d97ad38c_3_26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h608836c4d97ad38c_3_26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h608836c4d97ad38c_3_26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h608836c4d97ad38c_3_27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h608836c4d97ad38c_3_27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h608836c4d97ad38c_3_27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CFCFD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609600" y="954397"/>
            <a:ext cx="79248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100"/>
              <a:buFont typeface="Carlito"/>
              <a:buNone/>
              <a:defRPr sz="2100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609600" y="1476338"/>
            <a:ext cx="7924800" cy="3057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1B2A4A"/>
              </a:buClr>
              <a:buSzPts val="1200"/>
              <a:buNone/>
              <a:defRPr sz="1200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954397"/>
            <a:ext cx="79248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100"/>
              <a:buFont typeface="Carlito"/>
              <a:buNone/>
              <a:defRPr b="0" i="0" sz="21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09600" y="1476338"/>
            <a:ext cx="7924800" cy="3057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>
            <a:off x="609600" y="1886918"/>
            <a:ext cx="816254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100"/>
              <a:buFont typeface="Carlito"/>
              <a:buNone/>
            </a:pPr>
            <a:r>
              <a:rPr b="1" i="0" lang="en" sz="11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Advanced Aptitude · Session 3 of 7</a:t>
            </a:r>
            <a:endParaRPr b="0" i="0" sz="11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609600" y="2258393"/>
            <a:ext cx="6867525" cy="48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300"/>
              <a:buFont typeface="Carlito"/>
              <a:buNone/>
            </a:pPr>
            <a:r>
              <a:rPr b="1" i="0" lang="en" sz="3300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Probability &amp; Permutations</a:t>
            </a:r>
            <a:endParaRPr sz="3300"/>
          </a:p>
        </p:txBody>
      </p:sp>
      <p:sp>
        <p:nvSpPr>
          <p:cNvPr id="64" name="Google Shape;64;p16"/>
          <p:cNvSpPr/>
          <p:nvPr/>
        </p:nvSpPr>
        <p:spPr>
          <a:xfrm>
            <a:off x="609600" y="289083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200"/>
              <a:buFont typeface="Carlito"/>
              <a:buNone/>
            </a:pPr>
            <a:r>
              <a:rPr b="0" i="0" lang="en" sz="12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Module: Advanced Quant &amp; Speed · 90 minutes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8438369" y="4678710"/>
            <a:ext cx="96032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Session plan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609600" y="954397"/>
            <a:ext cx="8162544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100"/>
              <a:buFont typeface="Carlito"/>
              <a:buNone/>
            </a:pPr>
            <a:r>
              <a:rPr b="1" i="0" lang="en" sz="2100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How the 90 minutes run</a:t>
            </a:r>
            <a:endParaRPr sz="2100"/>
          </a:p>
        </p:txBody>
      </p:sp>
      <p:graphicFrame>
        <p:nvGraphicFramePr>
          <p:cNvPr id="74" name="Google Shape;74;p17"/>
          <p:cNvGraphicFramePr/>
          <p:nvPr/>
        </p:nvGraphicFramePr>
        <p:xfrm>
          <a:off x="619125" y="1428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{D39D8370-0943-46C8-98CA-ABB57E31C322}</a:tableStyleId>
              </a:tblPr>
              <a:tblGrid>
                <a:gridCol w="1583050"/>
                <a:gridCol w="6332200"/>
              </a:tblGrid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100"/>
                        <a:buFont typeface="Carlito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CFCFD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Minutes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100"/>
                        <a:buFont typeface="Carlito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CFCFD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What we cover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0–5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Session plan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5–15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Counting rules · Question 1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15–30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Arrangements with conditions · Questions 2–3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30–45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Distribution and selection shortcuts · Questions 4–5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45–55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Probability rules · Questions 6–7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55–80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CAT-level probability · Questions 8–10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80–90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Doubts and practice assignment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</a:tr>
            </a:tbl>
          </a:graphicData>
        </a:graphic>
      </p:graphicFrame>
      <p:sp>
        <p:nvSpPr>
          <p:cNvPr id="75" name="Google Shape;75;p17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8438369" y="4678710"/>
            <a:ext cx="96032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Concept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83" name="Google Shape;83;p18"/>
          <p:cNvSpPr txBox="1"/>
          <p:nvPr>
            <p:ph type="title"/>
          </p:nvPr>
        </p:nvSpPr>
        <p:spPr>
          <a:xfrm>
            <a:off x="609600" y="954397"/>
            <a:ext cx="8162544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100"/>
              <a:buFont typeface="Carlito"/>
              <a:buNone/>
            </a:pPr>
            <a:r>
              <a:rPr b="1" i="0" lang="en" sz="2100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Counting: arrange or select?</a:t>
            </a:r>
            <a:endParaRPr sz="2100"/>
          </a:p>
        </p:txBody>
      </p:sp>
      <p:graphicFrame>
        <p:nvGraphicFramePr>
          <p:cNvPr id="84" name="Google Shape;84;p18"/>
          <p:cNvGraphicFramePr/>
          <p:nvPr/>
        </p:nvGraphicFramePr>
        <p:xfrm>
          <a:off x="619125" y="1428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{D39D8370-0943-46C8-98CA-ABB57E31C322}</a:tableStyleId>
              </a:tblPr>
              <a:tblGrid>
                <a:gridCol w="1583050"/>
                <a:gridCol w="3561875"/>
                <a:gridCol w="2770350"/>
              </a:tblGrid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100"/>
                        <a:buFont typeface="Carlito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CFCFD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Rule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100"/>
                        <a:buFont typeface="Carlito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CFCFD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Use when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100"/>
                        <a:buFont typeface="Carlito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CFCFD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How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AND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Stages happen one after another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Multiply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OR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Either-or choices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Add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Permutation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Order matters: roles, ranks, codes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ⁿPᵣ = n! ÷ (n − r)!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Combination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Order doesn’t matter: teams, panels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ⁿCᵣ = n! ÷ [r! (n − r)!]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8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86" name="Google Shape;86;p18"/>
          <p:cNvSpPr/>
          <p:nvPr/>
        </p:nvSpPr>
        <p:spPr>
          <a:xfrm>
            <a:off x="8438369" y="4678710"/>
            <a:ext cx="96032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Question 1 · Placement level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609600" y="954397"/>
            <a:ext cx="7603331" cy="899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rlito"/>
              <a:buNone/>
            </a:pPr>
            <a:r>
              <a:rPr b="0" i="0" lang="en" sz="17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8 students are shortlisted for the placement committee. In how many ways can a President, a Vice-President and a Secretary be chosen? In how many ways can just 3 members be chosen?</a:t>
            </a:r>
            <a:endParaRPr b="0" i="0" sz="17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609600" y="4194833"/>
            <a:ext cx="8162544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Carlito"/>
              <a:buNone/>
            </a:pPr>
            <a:r>
              <a:rPr b="0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Target time: 60 seconds</a:t>
            </a:r>
            <a:endParaRPr b="0" i="0" sz="11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8438369" y="4678710"/>
            <a:ext cx="96032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Solution · Question 1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03" name="Google Shape;103;p20"/>
          <p:cNvSpPr/>
          <p:nvPr/>
        </p:nvSpPr>
        <p:spPr>
          <a:xfrm>
            <a:off x="609600" y="954397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1.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Roles are different, so order matters: ⁸P₃ = 8 × 7 × 6 = 336.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04" name="Google Shape;104;p20"/>
          <p:cNvSpPr/>
          <p:nvPr/>
        </p:nvSpPr>
        <p:spPr>
          <a:xfrm>
            <a:off x="609600" y="123441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2.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Members only, so order does not matter: ⁸C₃ = 336 ÷ 3! = 336 ÷ 6 = 56.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05" name="Google Shape;105;p20"/>
          <p:cNvSpPr/>
          <p:nvPr/>
        </p:nvSpPr>
        <p:spPr>
          <a:xfrm>
            <a:off x="609600" y="1619213"/>
            <a:ext cx="7924800" cy="430522"/>
          </a:xfrm>
          <a:prstGeom prst="roundRect">
            <a:avLst>
              <a:gd fmla="val 8850" name="adj"/>
            </a:avLst>
          </a:prstGeom>
          <a:solidFill>
            <a:srgbClr val="EDF3FB"/>
          </a:solidFill>
          <a:ln>
            <a:noFill/>
          </a:ln>
        </p:spPr>
        <p:txBody>
          <a:bodyPr anchorCtr="0" anchor="t" bIns="65025" lIns="141225" spcFirstLastPara="1" rIns="0" wrap="square" tIns="840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400"/>
              <a:buFont typeface="Carlito"/>
              <a:buNone/>
            </a:pPr>
            <a:r>
              <a:rPr b="1" i="0" lang="en" sz="14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Answer: 336 ways with roles, 56 ways without</a:t>
            </a:r>
            <a:endParaRPr b="0" i="0" sz="14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06" name="Google Shape;106;p20"/>
          <p:cNvSpPr/>
          <p:nvPr/>
        </p:nvSpPr>
        <p:spPr>
          <a:xfrm>
            <a:off x="609600" y="2221185"/>
            <a:ext cx="8162544" cy="205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Carlito"/>
              <a:buNone/>
            </a:pPr>
            <a:r>
              <a:rPr b="1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Watch out:</a:t>
            </a:r>
            <a:r>
              <a:rPr b="0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 using ⁸C₃ for the first part because both parts pick “3 from 8”.</a:t>
            </a:r>
            <a:endParaRPr b="0" i="0" sz="11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07" name="Google Shape;107;p20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8438369" y="4678710"/>
            <a:ext cx="96032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Concept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15" name="Google Shape;115;p21"/>
          <p:cNvSpPr txBox="1"/>
          <p:nvPr>
            <p:ph type="title"/>
          </p:nvPr>
        </p:nvSpPr>
        <p:spPr>
          <a:xfrm>
            <a:off x="609600" y="954397"/>
            <a:ext cx="8162544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100"/>
              <a:buFont typeface="Carlito"/>
              <a:buNone/>
            </a:pPr>
            <a:r>
              <a:rPr b="1" i="0" lang="en" sz="2100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Arrangements with conditions</a:t>
            </a:r>
            <a:endParaRPr sz="2100"/>
          </a:p>
        </p:txBody>
      </p:sp>
      <p:graphicFrame>
        <p:nvGraphicFramePr>
          <p:cNvPr id="116" name="Google Shape;116;p21"/>
          <p:cNvGraphicFramePr/>
          <p:nvPr/>
        </p:nvGraphicFramePr>
        <p:xfrm>
          <a:off x="619125" y="1428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{D39D8370-0943-46C8-98CA-ABB57E31C322}</a:tableStyleId>
              </a:tblPr>
              <a:tblGrid>
                <a:gridCol w="2216250"/>
                <a:gridCol w="5699000"/>
              </a:tblGrid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100"/>
                        <a:buFont typeface="Carlito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CFCFD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Situation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100"/>
                        <a:buFont typeface="Carlito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CFCFD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Method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Repeated letters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n! ÷ (p! × q! …) e.g. KOLKATA = 7! ÷ (2! × 2!) = 1,260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Must be together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Treat them as one block; arrange blocks × arrange inside the block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Never together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Total − together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Round a table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(n − 1)!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117" name="Google Shape;117;p21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8438369" y="4678710"/>
            <a:ext cx="96032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Question 2 · Placement level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25" name="Google Shape;125;p22"/>
          <p:cNvSpPr/>
          <p:nvPr/>
        </p:nvSpPr>
        <p:spPr>
          <a:xfrm>
            <a:off x="609600" y="954397"/>
            <a:ext cx="7603331" cy="60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rlito"/>
              <a:buNone/>
            </a:pPr>
            <a:r>
              <a:rPr b="0" i="0" lang="en" sz="17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In how many ways can the letters of the word LEADER be arranged so that the vowels always come together?</a:t>
            </a:r>
            <a:endParaRPr b="0" i="0" sz="17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26" name="Google Shape;126;p22"/>
          <p:cNvSpPr/>
          <p:nvPr/>
        </p:nvSpPr>
        <p:spPr>
          <a:xfrm>
            <a:off x="609600" y="4194833"/>
            <a:ext cx="8162544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Carlito"/>
              <a:buNone/>
            </a:pPr>
            <a:r>
              <a:rPr b="0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Target time: 90 seconds</a:t>
            </a:r>
            <a:endParaRPr b="0" i="0" sz="11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8438369" y="4678710"/>
            <a:ext cx="96032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Solution · Question 2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609600" y="954397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1.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Vowels: E, A, E. Consonants: L, D, R.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36" name="Google Shape;136;p23"/>
          <p:cNvSpPr/>
          <p:nvPr/>
        </p:nvSpPr>
        <p:spPr>
          <a:xfrm>
            <a:off x="609600" y="123441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2.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Treat the vowels as one block. Units to arrange: block, L, D, R = 4 units → 4! = 24.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37" name="Google Shape;137;p23"/>
          <p:cNvSpPr/>
          <p:nvPr/>
        </p:nvSpPr>
        <p:spPr>
          <a:xfrm>
            <a:off x="609600" y="151443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3.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Arrange inside the block: E, A, E has E twice → 3! ÷ 2! = 3.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609600" y="179445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4.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Total = 24 × 3.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609600" y="2179253"/>
            <a:ext cx="7924800" cy="430522"/>
          </a:xfrm>
          <a:prstGeom prst="roundRect">
            <a:avLst>
              <a:gd fmla="val 8850" name="adj"/>
            </a:avLst>
          </a:prstGeom>
          <a:solidFill>
            <a:srgbClr val="EDF3FB"/>
          </a:solidFill>
          <a:ln>
            <a:noFill/>
          </a:ln>
        </p:spPr>
        <p:txBody>
          <a:bodyPr anchorCtr="0" anchor="t" bIns="65025" lIns="141225" spcFirstLastPara="1" rIns="0" wrap="square" tIns="840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400"/>
              <a:buFont typeface="Carlito"/>
              <a:buNone/>
            </a:pPr>
            <a:r>
              <a:rPr b="1" i="0" lang="en" sz="14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Answer: 72</a:t>
            </a:r>
            <a:endParaRPr b="0" i="0" sz="14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40" name="Google Shape;140;p23"/>
          <p:cNvSpPr/>
          <p:nvPr/>
        </p:nvSpPr>
        <p:spPr>
          <a:xfrm>
            <a:off x="609600" y="2781226"/>
            <a:ext cx="8162544" cy="205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Carlito"/>
              <a:buNone/>
            </a:pPr>
            <a:r>
              <a:rPr b="1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Watch out:</a:t>
            </a:r>
            <a:r>
              <a:rPr b="0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 dividing for the repeated E only inside the block, not in the outer 4!.</a:t>
            </a:r>
            <a:endParaRPr b="0" i="0" sz="11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42" name="Google Shape;142;p23"/>
          <p:cNvSpPr/>
          <p:nvPr/>
        </p:nvSpPr>
        <p:spPr>
          <a:xfrm>
            <a:off x="8438369" y="4678710"/>
            <a:ext cx="96032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Question 3 · CAT level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609600" y="954397"/>
            <a:ext cx="7603331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rlito"/>
              <a:buNone/>
            </a:pPr>
            <a:r>
              <a:rPr b="0" i="0" lang="en" sz="17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How many 4-digit numbers with no repeated digit are divisible by 5?</a:t>
            </a:r>
            <a:endParaRPr b="0" i="0" sz="17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609600" y="4194833"/>
            <a:ext cx="8162544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Carlito"/>
              <a:buNone/>
            </a:pPr>
            <a:r>
              <a:rPr b="0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Target time: 2 minutes</a:t>
            </a:r>
            <a:endParaRPr b="0" i="0" sz="11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8438369" y="4678710"/>
            <a:ext cx="96032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Solution · Question 3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59" name="Google Shape;159;p25"/>
          <p:cNvSpPr/>
          <p:nvPr/>
        </p:nvSpPr>
        <p:spPr>
          <a:xfrm>
            <a:off x="609600" y="954397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1.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A number divisible by 5 ends in 0 or 5. Split into two cases.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609600" y="123441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2.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Ends in 0: first digit 9 choices (1–9), then 8, then 7 → 9 × 8 × 7 = 504.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609600" y="151443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3.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Ends in 5: first digit cannot be 0 or 5 → 8 choices, then 8, then 7 → 8 × 8 × 7 = 448.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62" name="Google Shape;162;p25"/>
          <p:cNvSpPr/>
          <p:nvPr/>
        </p:nvSpPr>
        <p:spPr>
          <a:xfrm>
            <a:off x="609600" y="179445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4.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Total = 504 + 448.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63" name="Google Shape;163;p25"/>
          <p:cNvSpPr/>
          <p:nvPr/>
        </p:nvSpPr>
        <p:spPr>
          <a:xfrm>
            <a:off x="609600" y="2179253"/>
            <a:ext cx="7924800" cy="430522"/>
          </a:xfrm>
          <a:prstGeom prst="roundRect">
            <a:avLst>
              <a:gd fmla="val 8850" name="adj"/>
            </a:avLst>
          </a:prstGeom>
          <a:solidFill>
            <a:srgbClr val="EDF3FB"/>
          </a:solidFill>
          <a:ln>
            <a:noFill/>
          </a:ln>
        </p:spPr>
        <p:txBody>
          <a:bodyPr anchorCtr="0" anchor="t" bIns="65025" lIns="141225" spcFirstLastPara="1" rIns="0" wrap="square" tIns="840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400"/>
              <a:buFont typeface="Carlito"/>
              <a:buNone/>
            </a:pPr>
            <a:r>
              <a:rPr b="1" i="0" lang="en" sz="14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Answer: 952</a:t>
            </a:r>
            <a:endParaRPr b="0" i="0" sz="14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64" name="Google Shape;164;p25"/>
          <p:cNvSpPr/>
          <p:nvPr/>
        </p:nvSpPr>
        <p:spPr>
          <a:xfrm>
            <a:off x="609600" y="2781226"/>
            <a:ext cx="8162544" cy="205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Carlito"/>
              <a:buNone/>
            </a:pPr>
            <a:r>
              <a:rPr b="1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Watch out:</a:t>
            </a:r>
            <a:r>
              <a:rPr b="0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 treating both cases the same way. Zero is allowed in the middle but not at the start.</a:t>
            </a:r>
            <a:endParaRPr b="0" i="0" sz="11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66" name="Google Shape;166;p25"/>
          <p:cNvSpPr/>
          <p:nvPr/>
        </p:nvSpPr>
        <p:spPr>
          <a:xfrm>
            <a:off x="8380437" y="4678710"/>
            <a:ext cx="15396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Concept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73" name="Google Shape;173;p26"/>
          <p:cNvSpPr txBox="1"/>
          <p:nvPr>
            <p:ph type="title"/>
          </p:nvPr>
        </p:nvSpPr>
        <p:spPr>
          <a:xfrm>
            <a:off x="609600" y="954397"/>
            <a:ext cx="8162544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100"/>
              <a:buFont typeface="Carlito"/>
              <a:buNone/>
            </a:pPr>
            <a:r>
              <a:rPr b="1" i="0" lang="en" sz="2100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Distribution and selection shortcuts</a:t>
            </a:r>
            <a:endParaRPr sz="2100"/>
          </a:p>
        </p:txBody>
      </p:sp>
      <p:graphicFrame>
        <p:nvGraphicFramePr>
          <p:cNvPr id="174" name="Google Shape;174;p26"/>
          <p:cNvGraphicFramePr/>
          <p:nvPr/>
        </p:nvGraphicFramePr>
        <p:xfrm>
          <a:off x="619125" y="1428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{D39D8370-0943-46C8-98CA-ABB57E31C322}</a:tableStyleId>
              </a:tblPr>
              <a:tblGrid>
                <a:gridCol w="4749150"/>
                <a:gridCol w="3166100"/>
              </a:tblGrid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100"/>
                        <a:buFont typeface="Carlito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CFCFD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Situation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100"/>
                        <a:buFont typeface="Carlito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CFCFD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Formula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 identical items to r people (zero allowed)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ⁿ⁺ʳ⁻¹Cᵣ₋₁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n identical items, each person gets at least 1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ⁿ⁻¹Cᵣ₋₁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At least one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Total − none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Triangles from n points, k of them on one line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ⁿC₃ − ᵏC₃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175" name="Google Shape;175;p26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8380437" y="4678710"/>
            <a:ext cx="15396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Question 4 · CAT level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609600" y="954397"/>
            <a:ext cx="7603331" cy="60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rlito"/>
              <a:buNone/>
            </a:pPr>
            <a:r>
              <a:rPr b="0" i="0" lang="en" sz="17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During Diwali, 10 identical laddoos are shared among 3 children so that each child gets at least one. In how many ways can this be done?</a:t>
            </a:r>
            <a:endParaRPr b="0" i="0" sz="17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609600" y="4194833"/>
            <a:ext cx="8162544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Carlito"/>
              <a:buNone/>
            </a:pPr>
            <a:r>
              <a:rPr b="0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Target time: 90 seconds</a:t>
            </a:r>
            <a:endParaRPr b="0" i="0" sz="11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8380437" y="4678710"/>
            <a:ext cx="15396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Solution · Question 4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93" name="Google Shape;193;p28"/>
          <p:cNvSpPr/>
          <p:nvPr/>
        </p:nvSpPr>
        <p:spPr>
          <a:xfrm>
            <a:off x="609600" y="954397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1.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Items are identical and each child must get at least 1, so use ⁿ⁻¹Cᵣ₋₁.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94" name="Google Shape;194;p28"/>
          <p:cNvSpPr/>
          <p:nvPr/>
        </p:nvSpPr>
        <p:spPr>
          <a:xfrm>
            <a:off x="609600" y="123441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2.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n = 10, r = 3 → ⁹C₂.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95" name="Google Shape;195;p28"/>
          <p:cNvSpPr/>
          <p:nvPr/>
        </p:nvSpPr>
        <p:spPr>
          <a:xfrm>
            <a:off x="609600" y="151443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3.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⁹C₂ = (9 × 8) ÷ 2 = 36.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609600" y="1899233"/>
            <a:ext cx="7924800" cy="430523"/>
          </a:xfrm>
          <a:prstGeom prst="roundRect">
            <a:avLst>
              <a:gd fmla="val 8850" name="adj"/>
            </a:avLst>
          </a:prstGeom>
          <a:solidFill>
            <a:srgbClr val="EDF3FB"/>
          </a:solidFill>
          <a:ln>
            <a:noFill/>
          </a:ln>
        </p:spPr>
        <p:txBody>
          <a:bodyPr anchorCtr="0" anchor="t" bIns="65025" lIns="141225" spcFirstLastPara="1" rIns="0" wrap="square" tIns="840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400"/>
              <a:buFont typeface="Carlito"/>
              <a:buNone/>
            </a:pPr>
            <a:r>
              <a:rPr b="1" i="0" lang="en" sz="14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Answer: 36</a:t>
            </a:r>
            <a:endParaRPr b="0" i="0" sz="14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609600" y="2501206"/>
            <a:ext cx="8162544" cy="205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Carlito"/>
              <a:buNone/>
            </a:pPr>
            <a:r>
              <a:rPr b="1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Watch out:</a:t>
            </a:r>
            <a:r>
              <a:rPr b="0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 using 3¹⁰. That counts different items, not identical laddoos. With zero allowed the answer would be ¹²C₂ = 66.</a:t>
            </a:r>
            <a:endParaRPr b="0" i="0" sz="11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8380437" y="4678710"/>
            <a:ext cx="15396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Question 5 · CAT level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06" name="Google Shape;206;p29"/>
          <p:cNvSpPr/>
          <p:nvPr/>
        </p:nvSpPr>
        <p:spPr>
          <a:xfrm>
            <a:off x="609600" y="954397"/>
            <a:ext cx="7603331" cy="60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rlito"/>
              <a:buNone/>
            </a:pPr>
            <a:r>
              <a:rPr b="0" i="0" lang="en" sz="17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There are 12 points on a plane, of which exactly 5 lie on one straight line. No other 3 points are in a line. How many triangles can be formed?</a:t>
            </a:r>
            <a:endParaRPr b="0" i="0" sz="17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07" name="Google Shape;207;p29"/>
          <p:cNvSpPr/>
          <p:nvPr/>
        </p:nvSpPr>
        <p:spPr>
          <a:xfrm>
            <a:off x="609600" y="4194833"/>
            <a:ext cx="8162544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Carlito"/>
              <a:buNone/>
            </a:pPr>
            <a:r>
              <a:rPr b="0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Target time: 90 seconds</a:t>
            </a:r>
            <a:endParaRPr b="0" i="0" sz="11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08" name="Google Shape;208;p29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09" name="Google Shape;209;p29"/>
          <p:cNvSpPr/>
          <p:nvPr/>
        </p:nvSpPr>
        <p:spPr>
          <a:xfrm>
            <a:off x="8380437" y="4678710"/>
            <a:ext cx="15396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Solution · Question 5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16" name="Google Shape;216;p30"/>
          <p:cNvSpPr/>
          <p:nvPr/>
        </p:nvSpPr>
        <p:spPr>
          <a:xfrm>
            <a:off x="609600" y="954397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1.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Any 3 points make a triangle unless they lie on one line.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609600" y="123441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2.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All selections of 3 points: ¹²C₃ = 220.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18" name="Google Shape;218;p30"/>
          <p:cNvSpPr/>
          <p:nvPr/>
        </p:nvSpPr>
        <p:spPr>
          <a:xfrm>
            <a:off x="609600" y="151443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3.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Selections from the 5 collinear points make no triangle: ⁵C₃ = 10.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19" name="Google Shape;219;p30"/>
          <p:cNvSpPr/>
          <p:nvPr/>
        </p:nvSpPr>
        <p:spPr>
          <a:xfrm>
            <a:off x="609600" y="179445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4.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Triangles = 220 − 10.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20" name="Google Shape;220;p30"/>
          <p:cNvSpPr/>
          <p:nvPr/>
        </p:nvSpPr>
        <p:spPr>
          <a:xfrm>
            <a:off x="609600" y="2179253"/>
            <a:ext cx="7924800" cy="430522"/>
          </a:xfrm>
          <a:prstGeom prst="roundRect">
            <a:avLst>
              <a:gd fmla="val 8850" name="adj"/>
            </a:avLst>
          </a:prstGeom>
          <a:solidFill>
            <a:srgbClr val="EDF3FB"/>
          </a:solidFill>
          <a:ln>
            <a:noFill/>
          </a:ln>
        </p:spPr>
        <p:txBody>
          <a:bodyPr anchorCtr="0" anchor="t" bIns="65025" lIns="141225" spcFirstLastPara="1" rIns="0" wrap="square" tIns="840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400"/>
              <a:buFont typeface="Carlito"/>
              <a:buNone/>
            </a:pPr>
            <a:r>
              <a:rPr b="1" i="0" lang="en" sz="14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Answer: 210</a:t>
            </a:r>
            <a:endParaRPr b="0" i="0" sz="14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21" name="Google Shape;221;p30"/>
          <p:cNvSpPr/>
          <p:nvPr/>
        </p:nvSpPr>
        <p:spPr>
          <a:xfrm>
            <a:off x="609600" y="2781226"/>
            <a:ext cx="8162544" cy="205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Carlito"/>
              <a:buNone/>
            </a:pPr>
            <a:r>
              <a:rPr b="1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Watch out:</a:t>
            </a:r>
            <a:r>
              <a:rPr b="0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 forgetting to subtract the collinear selections.</a:t>
            </a:r>
            <a:endParaRPr b="0" i="0" sz="11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22" name="Google Shape;222;p30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8380437" y="4678710"/>
            <a:ext cx="15396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Concept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30" name="Google Shape;230;p31"/>
          <p:cNvSpPr txBox="1"/>
          <p:nvPr>
            <p:ph type="title"/>
          </p:nvPr>
        </p:nvSpPr>
        <p:spPr>
          <a:xfrm>
            <a:off x="609600" y="954397"/>
            <a:ext cx="8162544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100"/>
              <a:buFont typeface="Carlito"/>
              <a:buNone/>
            </a:pPr>
            <a:r>
              <a:rPr b="1" i="0" lang="en" sz="2100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Probability rules</a:t>
            </a:r>
            <a:endParaRPr sz="2100"/>
          </a:p>
        </p:txBody>
      </p:sp>
      <p:graphicFrame>
        <p:nvGraphicFramePr>
          <p:cNvPr id="231" name="Google Shape;231;p31"/>
          <p:cNvGraphicFramePr/>
          <p:nvPr/>
        </p:nvGraphicFramePr>
        <p:xfrm>
          <a:off x="619125" y="1428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{D39D8370-0943-46C8-98CA-ABB57E31C322}</a:tableStyleId>
              </a:tblPr>
              <a:tblGrid>
                <a:gridCol w="3166100"/>
                <a:gridCol w="4749150"/>
              </a:tblGrid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100"/>
                        <a:buFont typeface="Carlito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CFCFD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Rule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CFCFD"/>
                        </a:buClr>
                        <a:buSzPts val="1100"/>
                        <a:buFont typeface="Carlito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CFCFD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Formula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Basic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P(A) = favourable ÷ total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253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Does not happen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P(not A) = 1 − P(A)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Both happen (independent)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P(A) × P(B)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Either happens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P(A) + P(B) − P(A and B)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3F7"/>
                    </a:solidFill>
                  </a:tcPr>
                </a:tc>
              </a:tr>
              <a:tr h="28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Given B has happened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1100"/>
                        <a:buFont typeface="Carlito"/>
                        <a:buNone/>
                      </a:pPr>
                      <a:r>
                        <a:rPr lang="en" sz="1100" u="none" cap="none" strike="noStrike">
                          <a:solidFill>
                            <a:srgbClr val="1B2A4A"/>
                          </a:solidFill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P(A | B) = P(A and B) ÷ P(B)</a:t>
                      </a:r>
                      <a:endParaRPr sz="1100" u="none" cap="none" strike="noStrike">
                        <a:latin typeface="Carlito"/>
                        <a:ea typeface="Carlito"/>
                        <a:cs typeface="Carlito"/>
                        <a:sym typeface="Carlito"/>
                      </a:endParaRPr>
                    </a:p>
                  </a:txBody>
                  <a:tcPr marT="46675" marB="46675" marR="46675" marL="46675">
                    <a:lnL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C2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9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</a:tr>
            </a:tbl>
          </a:graphicData>
        </a:graphic>
      </p:graphicFrame>
      <p:sp>
        <p:nvSpPr>
          <p:cNvPr id="232" name="Google Shape;232;p31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33" name="Google Shape;233;p31"/>
          <p:cNvSpPr/>
          <p:nvPr/>
        </p:nvSpPr>
        <p:spPr>
          <a:xfrm>
            <a:off x="8380437" y="4678710"/>
            <a:ext cx="15396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Question 6 · Placement level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40" name="Google Shape;240;p32"/>
          <p:cNvSpPr/>
          <p:nvPr/>
        </p:nvSpPr>
        <p:spPr>
          <a:xfrm>
            <a:off x="609600" y="954397"/>
            <a:ext cx="7603331" cy="60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rlito"/>
              <a:buNone/>
            </a:pPr>
            <a:r>
              <a:rPr b="0" i="0" lang="en" sz="17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A pool has 4 Infosys, 5 TCS and 3 Wipro interns. 3 interns are picked at random. What is the probability that one is picked from each company?</a:t>
            </a:r>
            <a:endParaRPr b="0" i="0" sz="17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41" name="Google Shape;241;p32"/>
          <p:cNvSpPr/>
          <p:nvPr/>
        </p:nvSpPr>
        <p:spPr>
          <a:xfrm>
            <a:off x="609600" y="4194833"/>
            <a:ext cx="8162544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Carlito"/>
              <a:buNone/>
            </a:pPr>
            <a:r>
              <a:rPr b="0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Target time: 90 seconds</a:t>
            </a:r>
            <a:endParaRPr b="0" i="0" sz="11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42" name="Google Shape;242;p32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43" name="Google Shape;243;p32"/>
          <p:cNvSpPr/>
          <p:nvPr/>
        </p:nvSpPr>
        <p:spPr>
          <a:xfrm>
            <a:off x="8380437" y="4678710"/>
            <a:ext cx="15396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Solution · Question 6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50" name="Google Shape;250;p33"/>
          <p:cNvSpPr/>
          <p:nvPr/>
        </p:nvSpPr>
        <p:spPr>
          <a:xfrm>
            <a:off x="609600" y="954397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1.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Favourable: one from each company = 4 × 5 × 3 = 60.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51" name="Google Shape;251;p33"/>
          <p:cNvSpPr/>
          <p:nvPr/>
        </p:nvSpPr>
        <p:spPr>
          <a:xfrm>
            <a:off x="609600" y="123441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2.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Total ways to pick 3 from 12: ¹²C₃ = 220.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52" name="Google Shape;252;p33"/>
          <p:cNvSpPr/>
          <p:nvPr/>
        </p:nvSpPr>
        <p:spPr>
          <a:xfrm>
            <a:off x="609600" y="151443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3.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Probability = 60 ÷ 220.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53" name="Google Shape;253;p33"/>
          <p:cNvSpPr/>
          <p:nvPr/>
        </p:nvSpPr>
        <p:spPr>
          <a:xfrm>
            <a:off x="609600" y="1899233"/>
            <a:ext cx="7924800" cy="430523"/>
          </a:xfrm>
          <a:prstGeom prst="roundRect">
            <a:avLst>
              <a:gd fmla="val 8850" name="adj"/>
            </a:avLst>
          </a:prstGeom>
          <a:solidFill>
            <a:srgbClr val="EDF3FB"/>
          </a:solidFill>
          <a:ln>
            <a:noFill/>
          </a:ln>
        </p:spPr>
        <p:txBody>
          <a:bodyPr anchorCtr="0" anchor="t" bIns="65025" lIns="141225" spcFirstLastPara="1" rIns="0" wrap="square" tIns="840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400"/>
              <a:buFont typeface="Carlito"/>
              <a:buNone/>
            </a:pPr>
            <a:r>
              <a:rPr b="1" i="0" lang="en" sz="14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Answer: 3/11</a:t>
            </a:r>
            <a:endParaRPr b="0" i="0" sz="14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54" name="Google Shape;254;p33"/>
          <p:cNvSpPr/>
          <p:nvPr/>
        </p:nvSpPr>
        <p:spPr>
          <a:xfrm>
            <a:off x="609600" y="2501206"/>
            <a:ext cx="8162544" cy="205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Carlito"/>
              <a:buNone/>
            </a:pPr>
            <a:r>
              <a:rPr b="1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Watch out:</a:t>
            </a:r>
            <a:r>
              <a:rPr b="0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 multiplying 4/12 × 5/11 × 3/10 and stopping. That fixes an order; you would need to multiply by 3! = 6 to get the same 3/11.</a:t>
            </a:r>
            <a:endParaRPr b="0" i="0" sz="11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55" name="Google Shape;255;p33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56" name="Google Shape;256;p33"/>
          <p:cNvSpPr/>
          <p:nvPr/>
        </p:nvSpPr>
        <p:spPr>
          <a:xfrm>
            <a:off x="8380437" y="4678710"/>
            <a:ext cx="15396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Question 7 · Placement level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63" name="Google Shape;263;p34"/>
          <p:cNvSpPr/>
          <p:nvPr/>
        </p:nvSpPr>
        <p:spPr>
          <a:xfrm>
            <a:off x="609600" y="954397"/>
            <a:ext cx="7603331" cy="60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rlito"/>
              <a:buNone/>
            </a:pPr>
            <a:r>
              <a:rPr b="0" i="0" lang="en" sz="17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A tells the truth 70% of the time and B tells the truth 80% of the time. What is the probability that they contradict each other when stating the same fact?</a:t>
            </a:r>
            <a:endParaRPr b="0" i="0" sz="17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64" name="Google Shape;264;p34"/>
          <p:cNvSpPr/>
          <p:nvPr/>
        </p:nvSpPr>
        <p:spPr>
          <a:xfrm>
            <a:off x="609600" y="4194833"/>
            <a:ext cx="8162544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Carlito"/>
              <a:buNone/>
            </a:pPr>
            <a:r>
              <a:rPr b="0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Target time: 90 seconds</a:t>
            </a:r>
            <a:endParaRPr b="0" i="0" sz="11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65" name="Google Shape;265;p34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66" name="Google Shape;266;p34"/>
          <p:cNvSpPr/>
          <p:nvPr/>
        </p:nvSpPr>
        <p:spPr>
          <a:xfrm>
            <a:off x="8380437" y="4678710"/>
            <a:ext cx="15396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5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Solution · Question 7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73" name="Google Shape;273;p35"/>
          <p:cNvSpPr/>
          <p:nvPr/>
        </p:nvSpPr>
        <p:spPr>
          <a:xfrm>
            <a:off x="609600" y="954397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1.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They contradict when one tells the truth and the other does not.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74" name="Google Shape;274;p35"/>
          <p:cNvSpPr/>
          <p:nvPr/>
        </p:nvSpPr>
        <p:spPr>
          <a:xfrm>
            <a:off x="609600" y="123441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2.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A true, B false: 0.7 × 0.2 = 0.14.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75" name="Google Shape;275;p35"/>
          <p:cNvSpPr/>
          <p:nvPr/>
        </p:nvSpPr>
        <p:spPr>
          <a:xfrm>
            <a:off x="609600" y="151443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3.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A false, B true: 0.3 × 0.8 = 0.24.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76" name="Google Shape;276;p35"/>
          <p:cNvSpPr/>
          <p:nvPr/>
        </p:nvSpPr>
        <p:spPr>
          <a:xfrm>
            <a:off x="609600" y="179445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4.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Add the two cases.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77" name="Google Shape;277;p35"/>
          <p:cNvSpPr/>
          <p:nvPr/>
        </p:nvSpPr>
        <p:spPr>
          <a:xfrm>
            <a:off x="609600" y="2179253"/>
            <a:ext cx="7924800" cy="430522"/>
          </a:xfrm>
          <a:prstGeom prst="roundRect">
            <a:avLst>
              <a:gd fmla="val 8850" name="adj"/>
            </a:avLst>
          </a:prstGeom>
          <a:solidFill>
            <a:srgbClr val="EDF3FB"/>
          </a:solidFill>
          <a:ln>
            <a:noFill/>
          </a:ln>
        </p:spPr>
        <p:txBody>
          <a:bodyPr anchorCtr="0" anchor="t" bIns="65025" lIns="141225" spcFirstLastPara="1" rIns="0" wrap="square" tIns="840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400"/>
              <a:buFont typeface="Carlito"/>
              <a:buNone/>
            </a:pPr>
            <a:r>
              <a:rPr b="1" i="0" lang="en" sz="14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Answer: 0.38</a:t>
            </a:r>
            <a:endParaRPr b="0" i="0" sz="14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78" name="Google Shape;278;p35"/>
          <p:cNvSpPr/>
          <p:nvPr/>
        </p:nvSpPr>
        <p:spPr>
          <a:xfrm>
            <a:off x="609600" y="2781226"/>
            <a:ext cx="8162544" cy="205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Carlito"/>
              <a:buNone/>
            </a:pPr>
            <a:r>
              <a:rPr b="1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Watch out:</a:t>
            </a:r>
            <a:r>
              <a:rPr b="0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 counting only one of the two cases.</a:t>
            </a:r>
            <a:endParaRPr b="0" i="0" sz="11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79" name="Google Shape;279;p35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80" name="Google Shape;280;p35"/>
          <p:cNvSpPr/>
          <p:nvPr/>
        </p:nvSpPr>
        <p:spPr>
          <a:xfrm>
            <a:off x="8380437" y="4678710"/>
            <a:ext cx="15396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6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Question 8 · CAT level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87" name="Google Shape;287;p36"/>
          <p:cNvSpPr/>
          <p:nvPr/>
        </p:nvSpPr>
        <p:spPr>
          <a:xfrm>
            <a:off x="609600" y="954397"/>
            <a:ext cx="7603331" cy="60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rlito"/>
              <a:buNone/>
            </a:pPr>
            <a:r>
              <a:rPr b="0" i="0" lang="en" sz="17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Three dice are thrown together. What is the probability that the sum of the numbers is 10?</a:t>
            </a:r>
            <a:endParaRPr b="0" i="0" sz="17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88" name="Google Shape;288;p36"/>
          <p:cNvSpPr/>
          <p:nvPr/>
        </p:nvSpPr>
        <p:spPr>
          <a:xfrm>
            <a:off x="609600" y="4194833"/>
            <a:ext cx="8162544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Carlito"/>
              <a:buNone/>
            </a:pPr>
            <a:r>
              <a:rPr b="0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Target time: 2 minutes</a:t>
            </a:r>
            <a:endParaRPr b="0" i="0" sz="11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89" name="Google Shape;289;p36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90" name="Google Shape;290;p36"/>
          <p:cNvSpPr/>
          <p:nvPr/>
        </p:nvSpPr>
        <p:spPr>
          <a:xfrm>
            <a:off x="8380437" y="4678710"/>
            <a:ext cx="15396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Solution · Question 8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97" name="Google Shape;297;p37"/>
          <p:cNvSpPr/>
          <p:nvPr/>
        </p:nvSpPr>
        <p:spPr>
          <a:xfrm>
            <a:off x="609600" y="954397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1.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Total outcomes: 6 × 6 × 6 = 216.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98" name="Google Shape;298;p37"/>
          <p:cNvSpPr/>
          <p:nvPr/>
        </p:nvSpPr>
        <p:spPr>
          <a:xfrm>
            <a:off x="609600" y="123441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2.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Count a + b + c = 10 with each from 1 to 6. Put x = a − 1 etc.: x + y + z = 7, each from 0 to 5.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299" name="Google Shape;299;p37"/>
          <p:cNvSpPr/>
          <p:nvPr/>
        </p:nvSpPr>
        <p:spPr>
          <a:xfrm>
            <a:off x="609600" y="151443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3.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Without the upper limit: ⁹C₂ = 36. Remove cases where one value is 6 or more: 3 values × 3 ways = 9.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00" name="Google Shape;300;p37"/>
          <p:cNvSpPr/>
          <p:nvPr/>
        </p:nvSpPr>
        <p:spPr>
          <a:xfrm>
            <a:off x="609600" y="179445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4.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Favourable = 36 − 9 = 27. Probability = 27 ÷ 216.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01" name="Google Shape;301;p37"/>
          <p:cNvSpPr/>
          <p:nvPr/>
        </p:nvSpPr>
        <p:spPr>
          <a:xfrm>
            <a:off x="609600" y="2179253"/>
            <a:ext cx="7924800" cy="430522"/>
          </a:xfrm>
          <a:prstGeom prst="roundRect">
            <a:avLst>
              <a:gd fmla="val 8850" name="adj"/>
            </a:avLst>
          </a:prstGeom>
          <a:solidFill>
            <a:srgbClr val="EDF3FB"/>
          </a:solidFill>
          <a:ln>
            <a:noFill/>
          </a:ln>
        </p:spPr>
        <p:txBody>
          <a:bodyPr anchorCtr="0" anchor="t" bIns="65025" lIns="141225" spcFirstLastPara="1" rIns="0" wrap="square" tIns="840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400"/>
              <a:buFont typeface="Carlito"/>
              <a:buNone/>
            </a:pPr>
            <a:r>
              <a:rPr b="1" i="0" lang="en" sz="14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Answer: 1/8</a:t>
            </a:r>
            <a:endParaRPr b="0" i="0" sz="14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02" name="Google Shape;302;p37"/>
          <p:cNvSpPr/>
          <p:nvPr/>
        </p:nvSpPr>
        <p:spPr>
          <a:xfrm>
            <a:off x="609600" y="2781226"/>
            <a:ext cx="8162544" cy="205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Carlito"/>
              <a:buNone/>
            </a:pPr>
            <a:r>
              <a:rPr b="1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Watch out:</a:t>
            </a:r>
            <a:r>
              <a:rPr b="0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 listing cases by hand. It works but takes over 3 minutes and is easy to miss one.</a:t>
            </a:r>
            <a:endParaRPr b="0" i="0" sz="11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03" name="Google Shape;303;p37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04" name="Google Shape;304;p37"/>
          <p:cNvSpPr/>
          <p:nvPr/>
        </p:nvSpPr>
        <p:spPr>
          <a:xfrm>
            <a:off x="8380437" y="4678710"/>
            <a:ext cx="15396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Question 9 · CAT level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11" name="Google Shape;311;p38"/>
          <p:cNvSpPr/>
          <p:nvPr/>
        </p:nvSpPr>
        <p:spPr>
          <a:xfrm>
            <a:off x="609600" y="954397"/>
            <a:ext cx="7603331" cy="60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rlito"/>
              <a:buNone/>
            </a:pPr>
            <a:r>
              <a:rPr b="0" i="0" lang="en" sz="17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A and B play Ludo and take turns rolling a die, with A rolling first. Whoever rolls a 6 first wins. What is the probability that A wins?</a:t>
            </a:r>
            <a:endParaRPr b="0" i="0" sz="17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12" name="Google Shape;312;p38"/>
          <p:cNvSpPr/>
          <p:nvPr/>
        </p:nvSpPr>
        <p:spPr>
          <a:xfrm>
            <a:off x="609600" y="4194833"/>
            <a:ext cx="8162544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Carlito"/>
              <a:buNone/>
            </a:pPr>
            <a:r>
              <a:rPr b="0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Target time: 2 minutes</a:t>
            </a:r>
            <a:endParaRPr b="0" i="0" sz="11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13" name="Google Shape;313;p38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14" name="Google Shape;314;p38"/>
          <p:cNvSpPr/>
          <p:nvPr/>
        </p:nvSpPr>
        <p:spPr>
          <a:xfrm>
            <a:off x="8380437" y="4678710"/>
            <a:ext cx="15396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Solution · Question 9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21" name="Google Shape;321;p39"/>
          <p:cNvSpPr/>
          <p:nvPr/>
        </p:nvSpPr>
        <p:spPr>
          <a:xfrm>
            <a:off x="609600" y="954397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1.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A wins on roll 1, 3, 5 …: 1/6 + (5/6)²(1/6) + (5/6)⁴(1/6) + …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22" name="Google Shape;322;p39"/>
          <p:cNvSpPr/>
          <p:nvPr/>
        </p:nvSpPr>
        <p:spPr>
          <a:xfrm>
            <a:off x="609600" y="123441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2.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This is a geometric series with first term 1/6 and ratio (5/6)² = 25/36.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23" name="Google Shape;323;p39"/>
          <p:cNvSpPr/>
          <p:nvPr/>
        </p:nvSpPr>
        <p:spPr>
          <a:xfrm>
            <a:off x="609600" y="151443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3.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Sum = (1/6) ÷ (1 − 25/36) = (1/6) ÷ (11/36) = 6/11.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24" name="Google Shape;324;p39"/>
          <p:cNvSpPr/>
          <p:nvPr/>
        </p:nvSpPr>
        <p:spPr>
          <a:xfrm>
            <a:off x="609600" y="1899233"/>
            <a:ext cx="7924800" cy="430523"/>
          </a:xfrm>
          <a:prstGeom prst="roundRect">
            <a:avLst>
              <a:gd fmla="val 8850" name="adj"/>
            </a:avLst>
          </a:prstGeom>
          <a:solidFill>
            <a:srgbClr val="EDF3FB"/>
          </a:solidFill>
          <a:ln>
            <a:noFill/>
          </a:ln>
        </p:spPr>
        <p:txBody>
          <a:bodyPr anchorCtr="0" anchor="t" bIns="65025" lIns="141225" spcFirstLastPara="1" rIns="0" wrap="square" tIns="840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400"/>
              <a:buFont typeface="Carlito"/>
              <a:buNone/>
            </a:pPr>
            <a:r>
              <a:rPr b="1" i="0" lang="en" sz="14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Answer: 6/11</a:t>
            </a:r>
            <a:endParaRPr b="0" i="0" sz="14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25" name="Google Shape;325;p39"/>
          <p:cNvSpPr/>
          <p:nvPr/>
        </p:nvSpPr>
        <p:spPr>
          <a:xfrm>
            <a:off x="609600" y="2501206"/>
            <a:ext cx="8162544" cy="205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Carlito"/>
              <a:buNone/>
            </a:pPr>
            <a:r>
              <a:rPr b="1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Watch out:</a:t>
            </a:r>
            <a:r>
              <a:rPr b="0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 answering 1/2. Going first is an advantage, so A’s chance must be more than half.</a:t>
            </a:r>
            <a:endParaRPr b="0" i="0" sz="11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26" name="Google Shape;326;p39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27" name="Google Shape;327;p39"/>
          <p:cNvSpPr/>
          <p:nvPr/>
        </p:nvSpPr>
        <p:spPr>
          <a:xfrm>
            <a:off x="8380437" y="4678710"/>
            <a:ext cx="15396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Question 10 · CAT level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34" name="Google Shape;334;p40"/>
          <p:cNvSpPr/>
          <p:nvPr/>
        </p:nvSpPr>
        <p:spPr>
          <a:xfrm>
            <a:off x="609600" y="954397"/>
            <a:ext cx="7603331" cy="899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rlito"/>
              <a:buNone/>
            </a:pPr>
            <a:r>
              <a:rPr b="0" i="0" lang="en" sz="17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A bag has 3 red and 4 black balls. Two balls are drawn one after another without replacement. Given that the second ball is red, what is the probability that the first ball was also red?</a:t>
            </a:r>
            <a:endParaRPr b="0" i="0" sz="17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35" name="Google Shape;335;p40"/>
          <p:cNvSpPr/>
          <p:nvPr/>
        </p:nvSpPr>
        <p:spPr>
          <a:xfrm>
            <a:off x="609600" y="4194833"/>
            <a:ext cx="8162544" cy="205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Carlito"/>
              <a:buNone/>
            </a:pPr>
            <a:r>
              <a:rPr b="0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Target time: 2 minutes</a:t>
            </a:r>
            <a:endParaRPr b="0" i="0" sz="11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36" name="Google Shape;336;p40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37" name="Google Shape;337;p40"/>
          <p:cNvSpPr/>
          <p:nvPr/>
        </p:nvSpPr>
        <p:spPr>
          <a:xfrm>
            <a:off x="8380437" y="4678710"/>
            <a:ext cx="15396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1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Solution · Question 10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44" name="Google Shape;344;p41"/>
          <p:cNvSpPr/>
          <p:nvPr/>
        </p:nvSpPr>
        <p:spPr>
          <a:xfrm>
            <a:off x="609600" y="954397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1.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P(red, red) = 3/7 × 2/6 = 6/42.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45" name="Google Shape;345;p41"/>
          <p:cNvSpPr/>
          <p:nvPr/>
        </p:nvSpPr>
        <p:spPr>
          <a:xfrm>
            <a:off x="609600" y="123441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2.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P(black, red) = 4/7 × 3/6 = 12/42.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46" name="Google Shape;346;p41"/>
          <p:cNvSpPr/>
          <p:nvPr/>
        </p:nvSpPr>
        <p:spPr>
          <a:xfrm>
            <a:off x="609600" y="151443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3.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P(second is red) = 6/42 + 12/42 = 18/42.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47" name="Google Shape;347;p41"/>
          <p:cNvSpPr/>
          <p:nvPr/>
        </p:nvSpPr>
        <p:spPr>
          <a:xfrm>
            <a:off x="609600" y="179445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1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4.</a:t>
            </a: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 P(first red | second red) = 6 ÷ 18.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48" name="Google Shape;348;p41"/>
          <p:cNvSpPr/>
          <p:nvPr/>
        </p:nvSpPr>
        <p:spPr>
          <a:xfrm>
            <a:off x="609600" y="2179253"/>
            <a:ext cx="7924800" cy="430522"/>
          </a:xfrm>
          <a:prstGeom prst="roundRect">
            <a:avLst>
              <a:gd fmla="val 8850" name="adj"/>
            </a:avLst>
          </a:prstGeom>
          <a:solidFill>
            <a:srgbClr val="EDF3FB"/>
          </a:solidFill>
          <a:ln>
            <a:noFill/>
          </a:ln>
        </p:spPr>
        <p:txBody>
          <a:bodyPr anchorCtr="0" anchor="t" bIns="65025" lIns="141225" spcFirstLastPara="1" rIns="0" wrap="square" tIns="840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400"/>
              <a:buFont typeface="Carlito"/>
              <a:buNone/>
            </a:pPr>
            <a:r>
              <a:rPr b="1" i="0" lang="en" sz="14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Answer: 1/3</a:t>
            </a:r>
            <a:endParaRPr b="0" i="0" sz="14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49" name="Google Shape;349;p41"/>
          <p:cNvSpPr/>
          <p:nvPr/>
        </p:nvSpPr>
        <p:spPr>
          <a:xfrm>
            <a:off x="609600" y="2781226"/>
            <a:ext cx="8162544" cy="392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1100"/>
              <a:buFont typeface="Carlito"/>
              <a:buNone/>
            </a:pPr>
            <a:r>
              <a:rPr b="1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Watch out:</a:t>
            </a:r>
            <a:r>
              <a:rPr b="0" i="0" lang="en" sz="11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 answering 2/6 from the wrong direction of reasoning, or 3/7 by ignoring the condition. Quick check: once one red is known to be used, 2 of the other 6 balls are red, so 2/6 = 1/3.</a:t>
            </a:r>
            <a:endParaRPr b="0" i="0" sz="11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50" name="Google Shape;350;p41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51" name="Google Shape;351;p41"/>
          <p:cNvSpPr/>
          <p:nvPr/>
        </p:nvSpPr>
        <p:spPr>
          <a:xfrm>
            <a:off x="8380437" y="4678710"/>
            <a:ext cx="15396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26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D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2"/>
          <p:cNvSpPr/>
          <p:nvPr/>
        </p:nvSpPr>
        <p:spPr>
          <a:xfrm>
            <a:off x="609600" y="609600"/>
            <a:ext cx="8162544" cy="19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B5FC2"/>
              </a:buClr>
              <a:buSzPts val="1000"/>
              <a:buFont typeface="Carlito"/>
              <a:buNone/>
            </a:pPr>
            <a:r>
              <a:rPr b="1" i="0" lang="en" sz="1000" u="none" cap="none" strike="noStrike">
                <a:solidFill>
                  <a:srgbClr val="0B5FC2"/>
                </a:solidFill>
                <a:latin typeface="Carlito"/>
                <a:ea typeface="Carlito"/>
                <a:cs typeface="Carlito"/>
                <a:sym typeface="Carlito"/>
              </a:rPr>
              <a:t>Before Session 4</a:t>
            </a:r>
            <a:endParaRPr b="0" i="0" sz="10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58" name="Google Shape;358;p42"/>
          <p:cNvSpPr txBox="1"/>
          <p:nvPr>
            <p:ph type="title"/>
          </p:nvPr>
        </p:nvSpPr>
        <p:spPr>
          <a:xfrm>
            <a:off x="609600" y="954397"/>
            <a:ext cx="8162544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100"/>
              <a:buFont typeface="Carlito"/>
              <a:buNone/>
            </a:pPr>
            <a:r>
              <a:rPr b="1" i="0" lang="en" sz="2100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Practice and next steps</a:t>
            </a:r>
            <a:endParaRPr sz="2100"/>
          </a:p>
        </p:txBody>
      </p:sp>
      <p:sp>
        <p:nvSpPr>
          <p:cNvPr id="359" name="Google Shape;359;p42"/>
          <p:cNvSpPr/>
          <p:nvPr/>
        </p:nvSpPr>
        <p:spPr>
          <a:xfrm>
            <a:off x="609600" y="141918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Solve 30 questions in 30 minutes 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60" name="Google Shape;360;p42"/>
          <p:cNvSpPr/>
          <p:nvPr/>
        </p:nvSpPr>
        <p:spPr>
          <a:xfrm>
            <a:off x="609600" y="1803983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Note every miss in your error log: Concept, Speed or Careless.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61" name="Google Shape;361;p42"/>
          <p:cNvSpPr/>
          <p:nvPr/>
        </p:nvSpPr>
        <p:spPr>
          <a:xfrm>
            <a:off x="609600" y="2188778"/>
            <a:ext cx="8162544" cy="23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rlito"/>
              <a:buNone/>
            </a:pPr>
            <a:r>
              <a:rPr b="0" i="0" lang="en" sz="1200" u="none" cap="none" strike="noStrike">
                <a:solidFill>
                  <a:srgbClr val="1B2A4A"/>
                </a:solidFill>
                <a:latin typeface="Carlito"/>
                <a:ea typeface="Carlito"/>
                <a:cs typeface="Carlito"/>
                <a:sym typeface="Carlito"/>
              </a:rPr>
              <a:t>Memorise factorials up to 8! and the identical-items formulas.</a:t>
            </a:r>
            <a:endParaRPr b="0" i="0" sz="12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62" name="Google Shape;362;p42"/>
          <p:cNvSpPr/>
          <p:nvPr/>
        </p:nvSpPr>
        <p:spPr>
          <a:xfrm>
            <a:off x="609600" y="4678710"/>
            <a:ext cx="2552417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Board Infinity | Advanced Aptitude · Session 3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63" name="Google Shape;363;p42"/>
          <p:cNvSpPr/>
          <p:nvPr/>
        </p:nvSpPr>
        <p:spPr>
          <a:xfrm>
            <a:off x="8380437" y="4678710"/>
            <a:ext cx="153963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475"/>
              </a:buClr>
              <a:buSzPts val="900"/>
              <a:buFont typeface="Carlito"/>
              <a:buNone/>
            </a:pPr>
            <a:r>
              <a:rPr b="0" i="0" lang="en" sz="900" u="none" cap="none" strike="noStrike">
                <a:solidFill>
                  <a:srgbClr val="5B6475"/>
                </a:solidFill>
                <a:latin typeface="Carlito"/>
                <a:ea typeface="Carlito"/>
                <a:cs typeface="Carlito"/>
                <a:sym typeface="Carlito"/>
              </a:rPr>
              <a:t>27</a:t>
            </a:r>
            <a:endParaRPr b="0" i="0" sz="900" u="none" cap="none" strike="noStrike"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bability &amp; Permutations — Advanced Aptitude Session 3">
  <a:themeElements>
    <a:clrScheme name="Probability &amp; Permutations — Advanced Aptitude Session 3">
      <a:dk1>
        <a:srgbClr val="1B2A4A"/>
      </a:dk1>
      <a:lt1>
        <a:srgbClr val="FCFCFD"/>
      </a:lt1>
      <a:dk2>
        <a:srgbClr val="535F77"/>
      </a:dk2>
      <a:lt2>
        <a:srgbClr val="E6E7EB"/>
      </a:lt2>
      <a:accent1>
        <a:srgbClr val="0B5FC2"/>
      </a:accent1>
      <a:accent2>
        <a:srgbClr val="5B6475"/>
      </a:accent2>
      <a:accent3>
        <a:srgbClr val="9AA0A6"/>
      </a:accent3>
      <a:accent4>
        <a:srgbClr val="757E92"/>
      </a:accent4>
      <a:accent5>
        <a:srgbClr val="979EAC"/>
      </a:accent5>
      <a:accent6>
        <a:srgbClr val="B8BDC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